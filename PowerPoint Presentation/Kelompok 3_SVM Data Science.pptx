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Londrina Solid Heavy" charset="1" panose="00000A00000000000000"/>
      <p:regular r:id="rId19"/>
    </p:embeddedFont>
    <p:embeddedFont>
      <p:font typeface="DG Jory" charset="1" panose="02000000000000000000"/>
      <p:regular r:id="rId20"/>
    </p:embeddedFont>
    <p:embeddedFont>
      <p:font typeface="DG Jory Bold" charset="1" panose="02000000000000000000"/>
      <p:regular r:id="rId21"/>
    </p:embeddedFont>
    <p:embeddedFont>
      <p:font typeface="Londrina Solid"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6.png" Type="http://schemas.openxmlformats.org/officeDocument/2006/relationships/image"/><Relationship Id="rId14" Target="../media/image17.png" Type="http://schemas.openxmlformats.org/officeDocument/2006/relationships/image"/><Relationship Id="rId15" Target="../media/image18.png" Type="http://schemas.openxmlformats.org/officeDocument/2006/relationships/image"/><Relationship Id="rId16" Target="../media/image19.png" Type="http://schemas.openxmlformats.org/officeDocument/2006/relationships/image"/><Relationship Id="rId17"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 Id="rId9"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DBB5"/>
        </a:solidFill>
      </p:bgPr>
    </p:bg>
    <p:spTree>
      <p:nvGrpSpPr>
        <p:cNvPr id="1" name=""/>
        <p:cNvGrpSpPr/>
        <p:nvPr/>
      </p:nvGrpSpPr>
      <p:grpSpPr>
        <a:xfrm>
          <a:off x="0" y="0"/>
          <a:ext cx="0" cy="0"/>
          <a:chOff x="0" y="0"/>
          <a:chExt cx="0" cy="0"/>
        </a:xfrm>
      </p:grpSpPr>
      <p:sp>
        <p:nvSpPr>
          <p:cNvPr name="Freeform 2" id="2"/>
          <p:cNvSpPr/>
          <p:nvPr/>
        </p:nvSpPr>
        <p:spPr>
          <a:xfrm flipH="false" flipV="false" rot="0">
            <a:off x="-1755729" y="5948746"/>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82647">
            <a:off x="-4472313"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4"/>
            <a:stretch>
              <a:fillRect l="0" t="0" r="0" b="0"/>
            </a:stretch>
          </a:blipFill>
        </p:spPr>
      </p:sp>
      <p:sp>
        <p:nvSpPr>
          <p:cNvPr name="Freeform 4" id="4"/>
          <p:cNvSpPr/>
          <p:nvPr/>
        </p:nvSpPr>
        <p:spPr>
          <a:xfrm flipH="false" flipV="false" rot="0">
            <a:off x="16457077" y="830297"/>
            <a:ext cx="3845858" cy="3845858"/>
          </a:xfrm>
          <a:custGeom>
            <a:avLst/>
            <a:gdLst/>
            <a:ahLst/>
            <a:cxnLst/>
            <a:rect r="r" b="b" t="t" l="l"/>
            <a:pathLst>
              <a:path h="3845858" w="3845858">
                <a:moveTo>
                  <a:pt x="0" y="0"/>
                </a:moveTo>
                <a:lnTo>
                  <a:pt x="3845858" y="0"/>
                </a:lnTo>
                <a:lnTo>
                  <a:pt x="3845858" y="3845859"/>
                </a:lnTo>
                <a:lnTo>
                  <a:pt x="0" y="384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782647">
            <a:off x="12376563"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4"/>
            <a:stretch>
              <a:fillRect l="0" t="0" r="0" b="0"/>
            </a:stretch>
          </a:blipFill>
        </p:spPr>
      </p:sp>
      <p:sp>
        <p:nvSpPr>
          <p:cNvPr name="Freeform 6" id="6"/>
          <p:cNvSpPr/>
          <p:nvPr/>
        </p:nvSpPr>
        <p:spPr>
          <a:xfrm flipH="true" flipV="false" rot="-5400000">
            <a:off x="4659956" y="-1463305"/>
            <a:ext cx="8761803" cy="13349007"/>
          </a:xfrm>
          <a:custGeom>
            <a:avLst/>
            <a:gdLst/>
            <a:ahLst/>
            <a:cxnLst/>
            <a:rect r="r" b="b" t="t" l="l"/>
            <a:pathLst>
              <a:path h="13349007" w="8761803">
                <a:moveTo>
                  <a:pt x="8761803" y="0"/>
                </a:moveTo>
                <a:lnTo>
                  <a:pt x="0" y="0"/>
                </a:lnTo>
                <a:lnTo>
                  <a:pt x="0" y="13349007"/>
                </a:lnTo>
                <a:lnTo>
                  <a:pt x="8761803" y="13349007"/>
                </a:lnTo>
                <a:lnTo>
                  <a:pt x="876180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572639" y="7883345"/>
            <a:ext cx="2041151" cy="1911260"/>
          </a:xfrm>
          <a:custGeom>
            <a:avLst/>
            <a:gdLst/>
            <a:ahLst/>
            <a:cxnLst/>
            <a:rect r="r" b="b" t="t" l="l"/>
            <a:pathLst>
              <a:path h="1911260" w="2041151">
                <a:moveTo>
                  <a:pt x="0" y="0"/>
                </a:moveTo>
                <a:lnTo>
                  <a:pt x="2041151" y="0"/>
                </a:lnTo>
                <a:lnTo>
                  <a:pt x="2041151" y="1911259"/>
                </a:lnTo>
                <a:lnTo>
                  <a:pt x="0" y="19112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3026842" y="140706"/>
            <a:ext cx="1689965" cy="1582422"/>
          </a:xfrm>
          <a:custGeom>
            <a:avLst/>
            <a:gdLst/>
            <a:ahLst/>
            <a:cxnLst/>
            <a:rect r="r" b="b" t="t" l="l"/>
            <a:pathLst>
              <a:path h="1582422" w="1689965">
                <a:moveTo>
                  <a:pt x="0" y="0"/>
                </a:moveTo>
                <a:lnTo>
                  <a:pt x="1689965" y="0"/>
                </a:lnTo>
                <a:lnTo>
                  <a:pt x="1689965" y="1582422"/>
                </a:lnTo>
                <a:lnTo>
                  <a:pt x="0" y="15824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true" flipV="false" rot="0">
            <a:off x="13718254" y="7062056"/>
            <a:ext cx="1997108" cy="2567262"/>
          </a:xfrm>
          <a:custGeom>
            <a:avLst/>
            <a:gdLst/>
            <a:ahLst/>
            <a:cxnLst/>
            <a:rect r="r" b="b" t="t" l="l"/>
            <a:pathLst>
              <a:path h="2567262" w="1997108">
                <a:moveTo>
                  <a:pt x="1997107" y="0"/>
                </a:moveTo>
                <a:lnTo>
                  <a:pt x="0" y="0"/>
                </a:lnTo>
                <a:lnTo>
                  <a:pt x="0" y="2567261"/>
                </a:lnTo>
                <a:lnTo>
                  <a:pt x="1997107" y="2567261"/>
                </a:lnTo>
                <a:lnTo>
                  <a:pt x="1997107"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7248404" y="4868994"/>
            <a:ext cx="3584907" cy="644262"/>
          </a:xfrm>
          <a:prstGeom prst="rect">
            <a:avLst/>
          </a:prstGeom>
        </p:spPr>
        <p:txBody>
          <a:bodyPr anchor="t" rtlCol="false" tIns="0" lIns="0" bIns="0" rIns="0">
            <a:spAutoFit/>
          </a:bodyPr>
          <a:lstStyle/>
          <a:p>
            <a:pPr algn="ctr">
              <a:lnSpc>
                <a:spcPts val="4614"/>
              </a:lnSpc>
            </a:pPr>
            <a:r>
              <a:rPr lang="en-US" b="true" sz="4857" spc="102">
                <a:solidFill>
                  <a:srgbClr val="643F07"/>
                </a:solidFill>
                <a:latin typeface="Londrina Solid Heavy"/>
                <a:ea typeface="Londrina Solid Heavy"/>
                <a:cs typeface="Londrina Solid Heavy"/>
                <a:sym typeface="Londrina Solid Heavy"/>
              </a:rPr>
              <a:t>KELOMPOK 3:</a:t>
            </a:r>
          </a:p>
        </p:txBody>
      </p:sp>
      <p:sp>
        <p:nvSpPr>
          <p:cNvPr name="TextBox 11" id="11"/>
          <p:cNvSpPr txBox="true"/>
          <p:nvPr/>
        </p:nvSpPr>
        <p:spPr>
          <a:xfrm rot="0">
            <a:off x="2843172" y="1932678"/>
            <a:ext cx="12601656" cy="2247900"/>
          </a:xfrm>
          <a:prstGeom prst="rect">
            <a:avLst/>
          </a:prstGeom>
        </p:spPr>
        <p:txBody>
          <a:bodyPr anchor="t" rtlCol="false" tIns="0" lIns="0" bIns="0" rIns="0">
            <a:spAutoFit/>
          </a:bodyPr>
          <a:lstStyle/>
          <a:p>
            <a:pPr algn="ctr">
              <a:lnSpc>
                <a:spcPts val="8550"/>
              </a:lnSpc>
            </a:pPr>
            <a:r>
              <a:rPr lang="en-US" b="true" sz="9000" spc="189">
                <a:solidFill>
                  <a:srgbClr val="643F07"/>
                </a:solidFill>
                <a:latin typeface="Londrina Solid Heavy"/>
                <a:ea typeface="Londrina Solid Heavy"/>
                <a:cs typeface="Londrina Solid Heavy"/>
                <a:sym typeface="Londrina Solid Heavy"/>
              </a:rPr>
              <a:t>SVM (SUP</a:t>
            </a:r>
            <a:r>
              <a:rPr lang="en-US" b="true" sz="9000" spc="189">
                <a:solidFill>
                  <a:srgbClr val="643F07"/>
                </a:solidFill>
                <a:latin typeface="Londrina Solid Heavy"/>
                <a:ea typeface="Londrina Solid Heavy"/>
                <a:cs typeface="Londrina Solid Heavy"/>
                <a:sym typeface="Londrina Solid Heavy"/>
              </a:rPr>
              <a:t>PORT VECTOR MACHINE)</a:t>
            </a:r>
          </a:p>
        </p:txBody>
      </p:sp>
      <p:sp>
        <p:nvSpPr>
          <p:cNvPr name="TextBox 12" id="12"/>
          <p:cNvSpPr txBox="true"/>
          <p:nvPr/>
        </p:nvSpPr>
        <p:spPr>
          <a:xfrm rot="0">
            <a:off x="3384340" y="6297130"/>
            <a:ext cx="11519320" cy="2362581"/>
          </a:xfrm>
          <a:prstGeom prst="rect">
            <a:avLst/>
          </a:prstGeom>
        </p:spPr>
        <p:txBody>
          <a:bodyPr anchor="t" rtlCol="false" tIns="0" lIns="0" bIns="0" rIns="0">
            <a:spAutoFit/>
          </a:bodyPr>
          <a:lstStyle/>
          <a:p>
            <a:pPr algn="ctr">
              <a:lnSpc>
                <a:spcPts val="4662"/>
              </a:lnSpc>
            </a:pPr>
            <a:r>
              <a:rPr lang="en-US" sz="3700">
                <a:solidFill>
                  <a:srgbClr val="643F07"/>
                </a:solidFill>
                <a:latin typeface="DG Jory"/>
                <a:ea typeface="DG Jory"/>
                <a:cs typeface="DG Jory"/>
                <a:sym typeface="DG Jory"/>
              </a:rPr>
              <a:t>Afif Dzaki Zain ( 234311029 )</a:t>
            </a:r>
          </a:p>
          <a:p>
            <a:pPr algn="ctr">
              <a:lnSpc>
                <a:spcPts val="4662"/>
              </a:lnSpc>
            </a:pPr>
            <a:r>
              <a:rPr lang="en-US" sz="3700">
                <a:solidFill>
                  <a:srgbClr val="643F07"/>
                </a:solidFill>
                <a:latin typeface="DG Jory"/>
                <a:ea typeface="DG Jory"/>
                <a:cs typeface="DG Jory"/>
                <a:sym typeface="DG Jory"/>
              </a:rPr>
              <a:t>Frezy Ananta D Tertiya ( 234311040 )</a:t>
            </a:r>
          </a:p>
          <a:p>
            <a:pPr algn="ctr">
              <a:lnSpc>
                <a:spcPts val="4662"/>
              </a:lnSpc>
            </a:pPr>
            <a:r>
              <a:rPr lang="en-US" sz="3700">
                <a:solidFill>
                  <a:srgbClr val="643F07"/>
                </a:solidFill>
                <a:latin typeface="DG Jory"/>
                <a:ea typeface="DG Jory"/>
                <a:cs typeface="DG Jory"/>
                <a:sym typeface="DG Jory"/>
              </a:rPr>
              <a:t>Hanan Labib Rasyaddin ( 234311041 )</a:t>
            </a:r>
          </a:p>
          <a:p>
            <a:pPr algn="ctr">
              <a:lnSpc>
                <a:spcPts val="4662"/>
              </a:lnSpc>
            </a:pPr>
            <a:r>
              <a:rPr lang="en-US" sz="3700">
                <a:solidFill>
                  <a:srgbClr val="643F07"/>
                </a:solidFill>
                <a:latin typeface="DG Jory"/>
                <a:ea typeface="DG Jory"/>
                <a:cs typeface="DG Jory"/>
                <a:sym typeface="DG Jory"/>
              </a:rPr>
              <a:t>Muhammad Hassanuddin ( 234311045 )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DBB5"/>
        </a:solidFill>
      </p:bgPr>
    </p:bg>
    <p:spTree>
      <p:nvGrpSpPr>
        <p:cNvPr id="1" name=""/>
        <p:cNvGrpSpPr/>
        <p:nvPr/>
      </p:nvGrpSpPr>
      <p:grpSpPr>
        <a:xfrm>
          <a:off x="0" y="0"/>
          <a:ext cx="0" cy="0"/>
          <a:chOff x="0" y="0"/>
          <a:chExt cx="0" cy="0"/>
        </a:xfrm>
      </p:grpSpPr>
      <p:sp>
        <p:nvSpPr>
          <p:cNvPr name="Freeform 2" id="2"/>
          <p:cNvSpPr/>
          <p:nvPr/>
        </p:nvSpPr>
        <p:spPr>
          <a:xfrm flipH="false" flipV="false" rot="0">
            <a:off x="-1755729" y="5948746"/>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57077" y="830297"/>
            <a:ext cx="3845858" cy="3845858"/>
          </a:xfrm>
          <a:custGeom>
            <a:avLst/>
            <a:gdLst/>
            <a:ahLst/>
            <a:cxnLst/>
            <a:rect r="r" b="b" t="t" l="l"/>
            <a:pathLst>
              <a:path h="3845858" w="3845858">
                <a:moveTo>
                  <a:pt x="0" y="0"/>
                </a:moveTo>
                <a:lnTo>
                  <a:pt x="3845858" y="0"/>
                </a:lnTo>
                <a:lnTo>
                  <a:pt x="3845858" y="3845859"/>
                </a:lnTo>
                <a:lnTo>
                  <a:pt x="0" y="384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782647">
            <a:off x="-4472313"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4"/>
            <a:stretch>
              <a:fillRect l="0" t="0" r="0" b="0"/>
            </a:stretch>
          </a:blipFill>
        </p:spPr>
      </p:sp>
      <p:sp>
        <p:nvSpPr>
          <p:cNvPr name="Freeform 5" id="5"/>
          <p:cNvSpPr/>
          <p:nvPr/>
        </p:nvSpPr>
        <p:spPr>
          <a:xfrm flipH="false" flipV="false" rot="5782647">
            <a:off x="12376563"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4"/>
            <a:stretch>
              <a:fillRect l="0" t="0" r="0" b="0"/>
            </a:stretch>
          </a:blipFill>
        </p:spPr>
      </p:sp>
      <p:sp>
        <p:nvSpPr>
          <p:cNvPr name="Freeform 6" id="6"/>
          <p:cNvSpPr/>
          <p:nvPr/>
        </p:nvSpPr>
        <p:spPr>
          <a:xfrm flipH="false" flipV="false" rot="-5400000">
            <a:off x="4524755" y="-1406589"/>
            <a:ext cx="9238489" cy="13100178"/>
          </a:xfrm>
          <a:custGeom>
            <a:avLst/>
            <a:gdLst/>
            <a:ahLst/>
            <a:cxnLst/>
            <a:rect r="r" b="b" t="t" l="l"/>
            <a:pathLst>
              <a:path h="13100178" w="9238489">
                <a:moveTo>
                  <a:pt x="0" y="0"/>
                </a:moveTo>
                <a:lnTo>
                  <a:pt x="9238490" y="0"/>
                </a:lnTo>
                <a:lnTo>
                  <a:pt x="9238490" y="13100178"/>
                </a:lnTo>
                <a:lnTo>
                  <a:pt x="0" y="131001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79953" y="4768575"/>
            <a:ext cx="1534670" cy="1437009"/>
          </a:xfrm>
          <a:custGeom>
            <a:avLst/>
            <a:gdLst/>
            <a:ahLst/>
            <a:cxnLst/>
            <a:rect r="r" b="b" t="t" l="l"/>
            <a:pathLst>
              <a:path h="1437009" w="1534670">
                <a:moveTo>
                  <a:pt x="0" y="0"/>
                </a:moveTo>
                <a:lnTo>
                  <a:pt x="1534671" y="0"/>
                </a:lnTo>
                <a:lnTo>
                  <a:pt x="1534671" y="1437010"/>
                </a:lnTo>
                <a:lnTo>
                  <a:pt x="0" y="14370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6281105" y="4687152"/>
            <a:ext cx="1534670" cy="1437009"/>
          </a:xfrm>
          <a:custGeom>
            <a:avLst/>
            <a:gdLst/>
            <a:ahLst/>
            <a:cxnLst/>
            <a:rect r="r" b="b" t="t" l="l"/>
            <a:pathLst>
              <a:path h="1437009" w="1534670">
                <a:moveTo>
                  <a:pt x="0" y="0"/>
                </a:moveTo>
                <a:lnTo>
                  <a:pt x="1534671" y="0"/>
                </a:lnTo>
                <a:lnTo>
                  <a:pt x="1534671" y="1437009"/>
                </a:lnTo>
                <a:lnTo>
                  <a:pt x="0" y="14370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4072356" y="186884"/>
            <a:ext cx="1734692" cy="1286826"/>
          </a:xfrm>
          <a:custGeom>
            <a:avLst/>
            <a:gdLst/>
            <a:ahLst/>
            <a:cxnLst/>
            <a:rect r="r" b="b" t="t" l="l"/>
            <a:pathLst>
              <a:path h="1286826" w="1734692">
                <a:moveTo>
                  <a:pt x="0" y="0"/>
                </a:moveTo>
                <a:lnTo>
                  <a:pt x="1734692" y="0"/>
                </a:lnTo>
                <a:lnTo>
                  <a:pt x="1734692" y="1286826"/>
                </a:lnTo>
                <a:lnTo>
                  <a:pt x="0" y="128682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5433747" y="1462578"/>
            <a:ext cx="7990910" cy="1069700"/>
          </a:xfrm>
          <a:prstGeom prst="rect">
            <a:avLst/>
          </a:prstGeom>
        </p:spPr>
        <p:txBody>
          <a:bodyPr anchor="t" rtlCol="false" tIns="0" lIns="0" bIns="0" rIns="0">
            <a:spAutoFit/>
          </a:bodyPr>
          <a:lstStyle/>
          <a:p>
            <a:pPr algn="ctr">
              <a:lnSpc>
                <a:spcPts val="7855"/>
              </a:lnSpc>
            </a:pPr>
            <a:r>
              <a:rPr lang="en-US" b="true" sz="8269" spc="173">
                <a:solidFill>
                  <a:srgbClr val="643F07"/>
                </a:solidFill>
                <a:latin typeface="Londrina Solid Heavy"/>
                <a:ea typeface="Londrina Solid Heavy"/>
                <a:cs typeface="Londrina Solid Heavy"/>
                <a:sym typeface="Londrina Solid Heavy"/>
              </a:rPr>
              <a:t>TABLE OF CONTENT</a:t>
            </a:r>
          </a:p>
        </p:txBody>
      </p:sp>
      <p:grpSp>
        <p:nvGrpSpPr>
          <p:cNvPr name="Group 11" id="11"/>
          <p:cNvGrpSpPr/>
          <p:nvPr/>
        </p:nvGrpSpPr>
        <p:grpSpPr>
          <a:xfrm rot="0">
            <a:off x="4621066" y="3346989"/>
            <a:ext cx="9611612" cy="4929812"/>
            <a:chOff x="0" y="0"/>
            <a:chExt cx="12815482" cy="6573083"/>
          </a:xfrm>
        </p:grpSpPr>
        <p:sp>
          <p:nvSpPr>
            <p:cNvPr name="TextBox 12" id="12"/>
            <p:cNvSpPr txBox="true"/>
            <p:nvPr/>
          </p:nvSpPr>
          <p:spPr>
            <a:xfrm rot="0">
              <a:off x="0" y="-114300"/>
              <a:ext cx="7336488" cy="805229"/>
            </a:xfrm>
            <a:prstGeom prst="rect">
              <a:avLst/>
            </a:prstGeom>
          </p:spPr>
          <p:txBody>
            <a:bodyPr anchor="t" rtlCol="false" tIns="0" lIns="0" bIns="0" rIns="0">
              <a:spAutoFit/>
            </a:bodyPr>
            <a:lstStyle/>
            <a:p>
              <a:pPr algn="l" marL="738589" indent="-369294" lvl="1">
                <a:lnSpc>
                  <a:spcPts val="5199"/>
                </a:lnSpc>
                <a:buFont typeface="Arial"/>
                <a:buChar char="•"/>
              </a:pPr>
              <a:r>
                <a:rPr lang="en-US" b="true" sz="3420" spc="-68">
                  <a:solidFill>
                    <a:srgbClr val="643F07"/>
                  </a:solidFill>
                  <a:latin typeface="DG Jory Bold"/>
                  <a:ea typeface="DG Jory Bold"/>
                  <a:cs typeface="DG Jory Bold"/>
                  <a:sym typeface="DG Jory Bold"/>
                </a:rPr>
                <a:t>01 – PENGERTIAN  SVM</a:t>
              </a:r>
            </a:p>
          </p:txBody>
        </p:sp>
        <p:sp>
          <p:nvSpPr>
            <p:cNvPr name="TextBox 13" id="13"/>
            <p:cNvSpPr txBox="true"/>
            <p:nvPr/>
          </p:nvSpPr>
          <p:spPr>
            <a:xfrm rot="0">
              <a:off x="0" y="4788539"/>
              <a:ext cx="7336488" cy="805229"/>
            </a:xfrm>
            <a:prstGeom prst="rect">
              <a:avLst/>
            </a:prstGeom>
          </p:spPr>
          <p:txBody>
            <a:bodyPr anchor="t" rtlCol="false" tIns="0" lIns="0" bIns="0" rIns="0">
              <a:spAutoFit/>
            </a:bodyPr>
            <a:lstStyle/>
            <a:p>
              <a:pPr algn="l" marL="738589" indent="-369294" lvl="1">
                <a:lnSpc>
                  <a:spcPts val="5199"/>
                </a:lnSpc>
                <a:buFont typeface="Arial"/>
                <a:buChar char="•"/>
              </a:pPr>
              <a:r>
                <a:rPr lang="en-US" b="true" sz="3420" spc="-68">
                  <a:solidFill>
                    <a:srgbClr val="643F07"/>
                  </a:solidFill>
                  <a:latin typeface="DG Jory Bold"/>
                  <a:ea typeface="DG Jory Bold"/>
                  <a:cs typeface="DG Jory Bold"/>
                  <a:sym typeface="DG Jory Bold"/>
                </a:rPr>
                <a:t>04 – COST  FUNCTION</a:t>
              </a:r>
            </a:p>
          </p:txBody>
        </p:sp>
        <p:sp>
          <p:nvSpPr>
            <p:cNvPr name="TextBox 14" id="14"/>
            <p:cNvSpPr txBox="true"/>
            <p:nvPr/>
          </p:nvSpPr>
          <p:spPr>
            <a:xfrm rot="0">
              <a:off x="4573977" y="1084629"/>
              <a:ext cx="7336488" cy="805229"/>
            </a:xfrm>
            <a:prstGeom prst="rect">
              <a:avLst/>
            </a:prstGeom>
          </p:spPr>
          <p:txBody>
            <a:bodyPr anchor="t" rtlCol="false" tIns="0" lIns="0" bIns="0" rIns="0">
              <a:spAutoFit/>
            </a:bodyPr>
            <a:lstStyle/>
            <a:p>
              <a:pPr algn="l" marL="738589" indent="-369294" lvl="1">
                <a:lnSpc>
                  <a:spcPts val="5199"/>
                </a:lnSpc>
                <a:buFont typeface="Arial"/>
                <a:buChar char="•"/>
              </a:pPr>
              <a:r>
                <a:rPr lang="en-US" b="true" sz="3420" spc="-68">
                  <a:solidFill>
                    <a:srgbClr val="643F07"/>
                  </a:solidFill>
                  <a:latin typeface="DG Jory Bold"/>
                  <a:ea typeface="DG Jory Bold"/>
                  <a:cs typeface="DG Jory Bold"/>
                  <a:sym typeface="DG Jory Bold"/>
                </a:rPr>
                <a:t>03 – HIPOTESA  FUNCTION</a:t>
              </a:r>
            </a:p>
          </p:txBody>
        </p:sp>
        <p:sp>
          <p:nvSpPr>
            <p:cNvPr name="TextBox 15" id="15"/>
            <p:cNvSpPr txBox="true"/>
            <p:nvPr/>
          </p:nvSpPr>
          <p:spPr>
            <a:xfrm rot="0">
              <a:off x="3668244" y="3482486"/>
              <a:ext cx="7044897" cy="805229"/>
            </a:xfrm>
            <a:prstGeom prst="rect">
              <a:avLst/>
            </a:prstGeom>
          </p:spPr>
          <p:txBody>
            <a:bodyPr anchor="t" rtlCol="false" tIns="0" lIns="0" bIns="0" rIns="0">
              <a:spAutoFit/>
            </a:bodyPr>
            <a:lstStyle/>
            <a:p>
              <a:pPr algn="l" marL="738589" indent="-369294" lvl="1">
                <a:lnSpc>
                  <a:spcPts val="5199"/>
                </a:lnSpc>
                <a:buFont typeface="Arial"/>
                <a:buChar char="•"/>
              </a:pPr>
              <a:r>
                <a:rPr lang="en-US" b="true" sz="3420" spc="-68">
                  <a:solidFill>
                    <a:srgbClr val="643F07"/>
                  </a:solidFill>
                  <a:latin typeface="DG Jory Bold"/>
                  <a:ea typeface="DG Jory Bold"/>
                  <a:cs typeface="DG Jory Bold"/>
                  <a:sym typeface="DG Jory Bold"/>
                </a:rPr>
                <a:t>05 – CONTOH  KASUS</a:t>
              </a:r>
            </a:p>
          </p:txBody>
        </p:sp>
        <p:sp>
          <p:nvSpPr>
            <p:cNvPr name="TextBox 16" id="16"/>
            <p:cNvSpPr txBox="true"/>
            <p:nvPr/>
          </p:nvSpPr>
          <p:spPr>
            <a:xfrm rot="0">
              <a:off x="1255920" y="2283558"/>
              <a:ext cx="6791652" cy="805228"/>
            </a:xfrm>
            <a:prstGeom prst="rect">
              <a:avLst/>
            </a:prstGeom>
          </p:spPr>
          <p:txBody>
            <a:bodyPr anchor="t" rtlCol="false" tIns="0" lIns="0" bIns="0" rIns="0">
              <a:spAutoFit/>
            </a:bodyPr>
            <a:lstStyle/>
            <a:p>
              <a:pPr algn="l" marL="738590" indent="-369295" lvl="1">
                <a:lnSpc>
                  <a:spcPts val="5199"/>
                </a:lnSpc>
                <a:buFont typeface="Arial"/>
                <a:buChar char="•"/>
              </a:pPr>
              <a:r>
                <a:rPr lang="en-US" b="true" sz="3420" spc="-68">
                  <a:solidFill>
                    <a:srgbClr val="643F07"/>
                  </a:solidFill>
                  <a:latin typeface="DG Jory Bold"/>
                  <a:ea typeface="DG Jory Bold"/>
                  <a:cs typeface="DG Jory Bold"/>
                  <a:sym typeface="DG Jory Bold"/>
                </a:rPr>
                <a:t>02 - PEMAKAIAN SVM</a:t>
              </a:r>
            </a:p>
          </p:txBody>
        </p:sp>
        <p:sp>
          <p:nvSpPr>
            <p:cNvPr name="TextBox 17" id="17"/>
            <p:cNvSpPr txBox="true"/>
            <p:nvPr/>
          </p:nvSpPr>
          <p:spPr>
            <a:xfrm rot="0">
              <a:off x="6023830" y="5767854"/>
              <a:ext cx="6791652" cy="805228"/>
            </a:xfrm>
            <a:prstGeom prst="rect">
              <a:avLst/>
            </a:prstGeom>
          </p:spPr>
          <p:txBody>
            <a:bodyPr anchor="t" rtlCol="false" tIns="0" lIns="0" bIns="0" rIns="0">
              <a:spAutoFit/>
            </a:bodyPr>
            <a:lstStyle/>
            <a:p>
              <a:pPr algn="l" marL="738590" indent="-369295" lvl="1">
                <a:lnSpc>
                  <a:spcPts val="5199"/>
                </a:lnSpc>
                <a:buFont typeface="Arial"/>
                <a:buChar char="•"/>
              </a:pPr>
              <a:r>
                <a:rPr lang="en-US" b="true" sz="3420" spc="-68">
                  <a:solidFill>
                    <a:srgbClr val="643F07"/>
                  </a:solidFill>
                  <a:latin typeface="DG Jory Bold"/>
                  <a:ea typeface="DG Jory Bold"/>
                  <a:cs typeface="DG Jory Bold"/>
                  <a:sym typeface="DG Jory Bold"/>
                </a:rPr>
                <a:t>06 – PENJELASAN  KODE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F3"/>
        </a:solidFill>
      </p:bgPr>
    </p:bg>
    <p:spTree>
      <p:nvGrpSpPr>
        <p:cNvPr id="1" name=""/>
        <p:cNvGrpSpPr/>
        <p:nvPr/>
      </p:nvGrpSpPr>
      <p:grpSpPr>
        <a:xfrm>
          <a:off x="0" y="0"/>
          <a:ext cx="0" cy="0"/>
          <a:chOff x="0" y="0"/>
          <a:chExt cx="0" cy="0"/>
        </a:xfrm>
      </p:grpSpPr>
      <p:sp>
        <p:nvSpPr>
          <p:cNvPr name="Freeform 2" id="2"/>
          <p:cNvSpPr/>
          <p:nvPr/>
        </p:nvSpPr>
        <p:spPr>
          <a:xfrm flipH="false" flipV="false" rot="0">
            <a:off x="-2817158" y="6613445"/>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599361" y="-44865"/>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532421">
            <a:off x="-4836191" y="3974342"/>
            <a:ext cx="10839203" cy="2059449"/>
          </a:xfrm>
          <a:custGeom>
            <a:avLst/>
            <a:gdLst/>
            <a:ahLst/>
            <a:cxnLst/>
            <a:rect r="r" b="b" t="t" l="l"/>
            <a:pathLst>
              <a:path h="2059449" w="10839203">
                <a:moveTo>
                  <a:pt x="0" y="0"/>
                </a:moveTo>
                <a:lnTo>
                  <a:pt x="10839203" y="0"/>
                </a:lnTo>
                <a:lnTo>
                  <a:pt x="10839203" y="2059449"/>
                </a:lnTo>
                <a:lnTo>
                  <a:pt x="0" y="2059449"/>
                </a:lnTo>
                <a:lnTo>
                  <a:pt x="0" y="0"/>
                </a:lnTo>
                <a:close/>
              </a:path>
            </a:pathLst>
          </a:custGeom>
          <a:blipFill>
            <a:blip r:embed="rId4"/>
            <a:stretch>
              <a:fillRect l="0" t="0" r="0" b="0"/>
            </a:stretch>
          </a:blipFill>
        </p:spPr>
      </p:sp>
      <p:sp>
        <p:nvSpPr>
          <p:cNvPr name="Freeform 5" id="5"/>
          <p:cNvSpPr/>
          <p:nvPr/>
        </p:nvSpPr>
        <p:spPr>
          <a:xfrm flipH="false" flipV="false" rot="5782647">
            <a:off x="12915162" y="4295789"/>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4"/>
            <a:stretch>
              <a:fillRect l="0" t="0" r="0" b="0"/>
            </a:stretch>
          </a:blipFill>
        </p:spPr>
      </p:sp>
      <p:sp>
        <p:nvSpPr>
          <p:cNvPr name="Freeform 6" id="6"/>
          <p:cNvSpPr/>
          <p:nvPr/>
        </p:nvSpPr>
        <p:spPr>
          <a:xfrm flipH="false" flipV="false" rot="0">
            <a:off x="301565" y="314897"/>
            <a:ext cx="1519517" cy="1422821"/>
          </a:xfrm>
          <a:custGeom>
            <a:avLst/>
            <a:gdLst/>
            <a:ahLst/>
            <a:cxnLst/>
            <a:rect r="r" b="b" t="t" l="l"/>
            <a:pathLst>
              <a:path h="1422821" w="1519517">
                <a:moveTo>
                  <a:pt x="0" y="0"/>
                </a:moveTo>
                <a:lnTo>
                  <a:pt x="1519517" y="0"/>
                </a:lnTo>
                <a:lnTo>
                  <a:pt x="1519517" y="1422820"/>
                </a:lnTo>
                <a:lnTo>
                  <a:pt x="0" y="14228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414317" y="8536374"/>
            <a:ext cx="1689965" cy="1582422"/>
          </a:xfrm>
          <a:custGeom>
            <a:avLst/>
            <a:gdLst/>
            <a:ahLst/>
            <a:cxnLst/>
            <a:rect r="r" b="b" t="t" l="l"/>
            <a:pathLst>
              <a:path h="1582422" w="1689965">
                <a:moveTo>
                  <a:pt x="0" y="0"/>
                </a:moveTo>
                <a:lnTo>
                  <a:pt x="1689966" y="0"/>
                </a:lnTo>
                <a:lnTo>
                  <a:pt x="1689966" y="1582422"/>
                </a:lnTo>
                <a:lnTo>
                  <a:pt x="0" y="15824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493462" y="314897"/>
            <a:ext cx="11301076" cy="1910909"/>
          </a:xfrm>
          <a:custGeom>
            <a:avLst/>
            <a:gdLst/>
            <a:ahLst/>
            <a:cxnLst/>
            <a:rect r="r" b="b" t="t" l="l"/>
            <a:pathLst>
              <a:path h="1910909" w="11301076">
                <a:moveTo>
                  <a:pt x="0" y="0"/>
                </a:moveTo>
                <a:lnTo>
                  <a:pt x="11301076" y="0"/>
                </a:lnTo>
                <a:lnTo>
                  <a:pt x="11301076" y="1910909"/>
                </a:lnTo>
                <a:lnTo>
                  <a:pt x="0" y="19109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176103" y="794101"/>
            <a:ext cx="11935794" cy="1162050"/>
          </a:xfrm>
          <a:prstGeom prst="rect">
            <a:avLst/>
          </a:prstGeom>
        </p:spPr>
        <p:txBody>
          <a:bodyPr anchor="t" rtlCol="false" tIns="0" lIns="0" bIns="0" rIns="0">
            <a:spAutoFit/>
          </a:bodyPr>
          <a:lstStyle/>
          <a:p>
            <a:pPr algn="ctr">
              <a:lnSpc>
                <a:spcPts val="8550"/>
              </a:lnSpc>
            </a:pPr>
            <a:r>
              <a:rPr lang="en-US" b="true" sz="9000" spc="189">
                <a:solidFill>
                  <a:srgbClr val="FFFAF3"/>
                </a:solidFill>
                <a:latin typeface="Londrina Solid Heavy"/>
                <a:ea typeface="Londrina Solid Heavy"/>
                <a:cs typeface="Londrina Solid Heavy"/>
                <a:sym typeface="Londrina Solid Heavy"/>
              </a:rPr>
              <a:t>PENGERTIAN SVM</a:t>
            </a:r>
          </a:p>
        </p:txBody>
      </p:sp>
      <p:sp>
        <p:nvSpPr>
          <p:cNvPr name="TextBox 10" id="10"/>
          <p:cNvSpPr txBox="true"/>
          <p:nvPr/>
        </p:nvSpPr>
        <p:spPr>
          <a:xfrm rot="0">
            <a:off x="1612564" y="2734176"/>
            <a:ext cx="15062871" cy="6064107"/>
          </a:xfrm>
          <a:prstGeom prst="rect">
            <a:avLst/>
          </a:prstGeom>
        </p:spPr>
        <p:txBody>
          <a:bodyPr anchor="t" rtlCol="false" tIns="0" lIns="0" bIns="0" rIns="0">
            <a:spAutoFit/>
          </a:bodyPr>
          <a:lstStyle/>
          <a:p>
            <a:pPr algn="ctr">
              <a:lnSpc>
                <a:spcPts val="3698"/>
              </a:lnSpc>
            </a:pPr>
            <a:r>
              <a:rPr lang="en-US" b="true" sz="2935">
                <a:solidFill>
                  <a:srgbClr val="643F07"/>
                </a:solidFill>
                <a:latin typeface="DG Jory Bold"/>
                <a:ea typeface="DG Jory Bold"/>
                <a:cs typeface="DG Jory Bold"/>
                <a:sym typeface="DG Jory Bold"/>
              </a:rPr>
              <a:t>Supp</a:t>
            </a:r>
            <a:r>
              <a:rPr lang="en-US" b="true" sz="2935">
                <a:solidFill>
                  <a:srgbClr val="643F07"/>
                </a:solidFill>
                <a:latin typeface="DG Jory Bold"/>
                <a:ea typeface="DG Jory Bold"/>
                <a:cs typeface="DG Jory Bold"/>
                <a:sym typeface="DG Jory Bold"/>
              </a:rPr>
              <a:t>ort Vector Machine (SVM)</a:t>
            </a:r>
            <a:r>
              <a:rPr lang="en-US" sz="2935">
                <a:solidFill>
                  <a:srgbClr val="643F07"/>
                </a:solidFill>
                <a:latin typeface="DG Jory"/>
                <a:ea typeface="DG Jory"/>
                <a:cs typeface="DG Jory"/>
                <a:sym typeface="DG Jory"/>
              </a:rPr>
              <a:t> adalah sebuah machine learning yang pertama kali diperkenalkan oleh Vapnik. SVM merupakan supervised machine learning yang dapat menyelesaikan berbagai masalah seperti kategori teks, tulisan tangan, digit recognition, tone recognition, klasifikasi gambar dan deteksi objek, dan klasifikasi data. Dalam metode SVM, poin utamanya yaitu untuk mengoptimalkan yang namanya hyperplane.</a:t>
            </a:r>
          </a:p>
          <a:p>
            <a:pPr algn="ctr">
              <a:lnSpc>
                <a:spcPts val="3698"/>
              </a:lnSpc>
            </a:pPr>
          </a:p>
          <a:p>
            <a:pPr algn="ctr">
              <a:lnSpc>
                <a:spcPts val="3698"/>
              </a:lnSpc>
            </a:pPr>
            <a:r>
              <a:rPr lang="en-US" sz="2935">
                <a:solidFill>
                  <a:srgbClr val="643F07"/>
                </a:solidFill>
                <a:latin typeface="DG Jory"/>
                <a:ea typeface="DG Jory"/>
                <a:cs typeface="DG Jory"/>
                <a:sym typeface="DG Jory"/>
              </a:rPr>
              <a:t> Hyperplane digunakan sebagai batas yang memisahkan support vector kelas satu dengan support vector kelas lainnya. Dengan mengoptimalkan Support vector khususnya support vector yang berdekatan antara kelas satu dengan kelas lainnya dijadikan sebagai tolak ukur untuk batas klasifikasi agar hyperplane yang akan dibuat menjadi optimal. Vector ini berasal dari dataset yang sudah diubah menjadi nilai vector melalui vectorization setelah proses ekstraksi fitur dan dijadikan sebagai support vector. Sebagai contoh pada dataset training terdiri dari x dan y dalam bentuk {(𝑥1 , 𝑦1 ), … , (𝑥𝑛, 𝑦𝑛 )} dimana x disebut dengan vector dan y adalah label kelasnya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DBB5"/>
        </a:solidFill>
      </p:bgPr>
    </p:bg>
    <p:spTree>
      <p:nvGrpSpPr>
        <p:cNvPr id="1" name=""/>
        <p:cNvGrpSpPr/>
        <p:nvPr/>
      </p:nvGrpSpPr>
      <p:grpSpPr>
        <a:xfrm>
          <a:off x="0" y="0"/>
          <a:ext cx="0" cy="0"/>
          <a:chOff x="0" y="0"/>
          <a:chExt cx="0" cy="0"/>
        </a:xfrm>
      </p:grpSpPr>
      <p:sp>
        <p:nvSpPr>
          <p:cNvPr name="Freeform 2" id="2"/>
          <p:cNvSpPr/>
          <p:nvPr/>
        </p:nvSpPr>
        <p:spPr>
          <a:xfrm flipH="false" flipV="false" rot="0">
            <a:off x="-1755729" y="5948746"/>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57077" y="830297"/>
            <a:ext cx="3845858" cy="3845858"/>
          </a:xfrm>
          <a:custGeom>
            <a:avLst/>
            <a:gdLst/>
            <a:ahLst/>
            <a:cxnLst/>
            <a:rect r="r" b="b" t="t" l="l"/>
            <a:pathLst>
              <a:path h="3845858" w="3845858">
                <a:moveTo>
                  <a:pt x="0" y="0"/>
                </a:moveTo>
                <a:lnTo>
                  <a:pt x="3845858" y="0"/>
                </a:lnTo>
                <a:lnTo>
                  <a:pt x="3845858" y="3845859"/>
                </a:lnTo>
                <a:lnTo>
                  <a:pt x="0" y="384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782647">
            <a:off x="-4472313"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4"/>
            <a:stretch>
              <a:fillRect l="0" t="0" r="0" b="0"/>
            </a:stretch>
          </a:blipFill>
        </p:spPr>
      </p:sp>
      <p:sp>
        <p:nvSpPr>
          <p:cNvPr name="Freeform 5" id="5"/>
          <p:cNvSpPr/>
          <p:nvPr/>
        </p:nvSpPr>
        <p:spPr>
          <a:xfrm flipH="false" flipV="false" rot="5782647">
            <a:off x="12376563"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4"/>
            <a:stretch>
              <a:fillRect l="0" t="0" r="0" b="0"/>
            </a:stretch>
          </a:blipFill>
        </p:spPr>
      </p:sp>
      <p:sp>
        <p:nvSpPr>
          <p:cNvPr name="Freeform 6" id="6"/>
          <p:cNvSpPr/>
          <p:nvPr/>
        </p:nvSpPr>
        <p:spPr>
          <a:xfrm flipH="false" flipV="false" rot="-5400000">
            <a:off x="4524755" y="-1406589"/>
            <a:ext cx="9238489" cy="13100178"/>
          </a:xfrm>
          <a:custGeom>
            <a:avLst/>
            <a:gdLst/>
            <a:ahLst/>
            <a:cxnLst/>
            <a:rect r="r" b="b" t="t" l="l"/>
            <a:pathLst>
              <a:path h="13100178" w="9238489">
                <a:moveTo>
                  <a:pt x="0" y="0"/>
                </a:moveTo>
                <a:lnTo>
                  <a:pt x="9238490" y="0"/>
                </a:lnTo>
                <a:lnTo>
                  <a:pt x="9238490" y="13100178"/>
                </a:lnTo>
                <a:lnTo>
                  <a:pt x="0" y="131001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79953" y="4768575"/>
            <a:ext cx="1534670" cy="1437009"/>
          </a:xfrm>
          <a:custGeom>
            <a:avLst/>
            <a:gdLst/>
            <a:ahLst/>
            <a:cxnLst/>
            <a:rect r="r" b="b" t="t" l="l"/>
            <a:pathLst>
              <a:path h="1437009" w="1534670">
                <a:moveTo>
                  <a:pt x="0" y="0"/>
                </a:moveTo>
                <a:lnTo>
                  <a:pt x="1534671" y="0"/>
                </a:lnTo>
                <a:lnTo>
                  <a:pt x="1534671" y="1437010"/>
                </a:lnTo>
                <a:lnTo>
                  <a:pt x="0" y="14370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6281105" y="4687152"/>
            <a:ext cx="1534670" cy="1437009"/>
          </a:xfrm>
          <a:custGeom>
            <a:avLst/>
            <a:gdLst/>
            <a:ahLst/>
            <a:cxnLst/>
            <a:rect r="r" b="b" t="t" l="l"/>
            <a:pathLst>
              <a:path h="1437009" w="1534670">
                <a:moveTo>
                  <a:pt x="0" y="0"/>
                </a:moveTo>
                <a:lnTo>
                  <a:pt x="1534671" y="0"/>
                </a:lnTo>
                <a:lnTo>
                  <a:pt x="1534671" y="1437009"/>
                </a:lnTo>
                <a:lnTo>
                  <a:pt x="0" y="14370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4546414" y="186884"/>
            <a:ext cx="1734692" cy="1286826"/>
          </a:xfrm>
          <a:custGeom>
            <a:avLst/>
            <a:gdLst/>
            <a:ahLst/>
            <a:cxnLst/>
            <a:rect r="r" b="b" t="t" l="l"/>
            <a:pathLst>
              <a:path h="1286826" w="1734692">
                <a:moveTo>
                  <a:pt x="0" y="0"/>
                </a:moveTo>
                <a:lnTo>
                  <a:pt x="1734691" y="0"/>
                </a:lnTo>
                <a:lnTo>
                  <a:pt x="1734691" y="1286826"/>
                </a:lnTo>
                <a:lnTo>
                  <a:pt x="0" y="128682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4221832" y="2916729"/>
            <a:ext cx="5231555" cy="5025041"/>
            <a:chOff x="0" y="0"/>
            <a:chExt cx="1377858" cy="1323468"/>
          </a:xfrm>
        </p:grpSpPr>
        <p:sp>
          <p:nvSpPr>
            <p:cNvPr name="Freeform 11" id="11"/>
            <p:cNvSpPr/>
            <p:nvPr/>
          </p:nvSpPr>
          <p:spPr>
            <a:xfrm flipH="false" flipV="false" rot="0">
              <a:off x="0" y="0"/>
              <a:ext cx="1377858" cy="1323468"/>
            </a:xfrm>
            <a:custGeom>
              <a:avLst/>
              <a:gdLst/>
              <a:ahLst/>
              <a:cxnLst/>
              <a:rect r="r" b="b" t="t" l="l"/>
              <a:pathLst>
                <a:path h="1323468" w="1377858">
                  <a:moveTo>
                    <a:pt x="75472" y="0"/>
                  </a:moveTo>
                  <a:lnTo>
                    <a:pt x="1302386" y="0"/>
                  </a:lnTo>
                  <a:cubicBezTo>
                    <a:pt x="1344068" y="0"/>
                    <a:pt x="1377858" y="33790"/>
                    <a:pt x="1377858" y="75472"/>
                  </a:cubicBezTo>
                  <a:lnTo>
                    <a:pt x="1377858" y="1247995"/>
                  </a:lnTo>
                  <a:cubicBezTo>
                    <a:pt x="1377858" y="1268012"/>
                    <a:pt x="1369907" y="1287208"/>
                    <a:pt x="1355753" y="1301362"/>
                  </a:cubicBezTo>
                  <a:cubicBezTo>
                    <a:pt x="1341599" y="1315516"/>
                    <a:pt x="1322402" y="1323468"/>
                    <a:pt x="1302386" y="1323468"/>
                  </a:cubicBezTo>
                  <a:lnTo>
                    <a:pt x="75472" y="1323468"/>
                  </a:lnTo>
                  <a:cubicBezTo>
                    <a:pt x="55456" y="1323468"/>
                    <a:pt x="36259" y="1315516"/>
                    <a:pt x="22105" y="1301362"/>
                  </a:cubicBezTo>
                  <a:cubicBezTo>
                    <a:pt x="7952" y="1287208"/>
                    <a:pt x="0" y="1268012"/>
                    <a:pt x="0" y="1247995"/>
                  </a:cubicBezTo>
                  <a:lnTo>
                    <a:pt x="0" y="75472"/>
                  </a:lnTo>
                  <a:cubicBezTo>
                    <a:pt x="0" y="55456"/>
                    <a:pt x="7952" y="36259"/>
                    <a:pt x="22105" y="22105"/>
                  </a:cubicBezTo>
                  <a:cubicBezTo>
                    <a:pt x="36259" y="7952"/>
                    <a:pt x="55456" y="0"/>
                    <a:pt x="75472" y="0"/>
                  </a:cubicBezTo>
                  <a:close/>
                </a:path>
              </a:pathLst>
            </a:custGeom>
            <a:solidFill>
              <a:srgbClr val="FFF2E0"/>
            </a:solidFill>
          </p:spPr>
        </p:sp>
        <p:sp>
          <p:nvSpPr>
            <p:cNvPr name="TextBox 12" id="12"/>
            <p:cNvSpPr txBox="true"/>
            <p:nvPr/>
          </p:nvSpPr>
          <p:spPr>
            <a:xfrm>
              <a:off x="0" y="-38100"/>
              <a:ext cx="1377858" cy="1361568"/>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5519403" y="1462578"/>
            <a:ext cx="7990910" cy="1069700"/>
          </a:xfrm>
          <a:prstGeom prst="rect">
            <a:avLst/>
          </a:prstGeom>
        </p:spPr>
        <p:txBody>
          <a:bodyPr anchor="t" rtlCol="false" tIns="0" lIns="0" bIns="0" rIns="0">
            <a:spAutoFit/>
          </a:bodyPr>
          <a:lstStyle/>
          <a:p>
            <a:pPr algn="ctr">
              <a:lnSpc>
                <a:spcPts val="7855"/>
              </a:lnSpc>
            </a:pPr>
            <a:r>
              <a:rPr lang="en-US" b="true" sz="8269" spc="173">
                <a:solidFill>
                  <a:srgbClr val="643F07"/>
                </a:solidFill>
                <a:latin typeface="Londrina Solid Heavy"/>
                <a:ea typeface="Londrina Solid Heavy"/>
                <a:cs typeface="Londrina Solid Heavy"/>
                <a:sym typeface="Londrina Solid Heavy"/>
              </a:rPr>
              <a:t>PEMAKAIAN SVM</a:t>
            </a:r>
          </a:p>
        </p:txBody>
      </p:sp>
      <p:sp>
        <p:nvSpPr>
          <p:cNvPr name="TextBox 14" id="14"/>
          <p:cNvSpPr txBox="true"/>
          <p:nvPr/>
        </p:nvSpPr>
        <p:spPr>
          <a:xfrm rot="0">
            <a:off x="4721719" y="3622524"/>
            <a:ext cx="4231781" cy="3298913"/>
          </a:xfrm>
          <a:prstGeom prst="rect">
            <a:avLst/>
          </a:prstGeom>
        </p:spPr>
        <p:txBody>
          <a:bodyPr anchor="t" rtlCol="false" tIns="0" lIns="0" bIns="0" rIns="0">
            <a:spAutoFit/>
          </a:bodyPr>
          <a:lstStyle/>
          <a:p>
            <a:pPr algn="ctr">
              <a:lnSpc>
                <a:spcPts val="2647"/>
              </a:lnSpc>
            </a:pPr>
            <a:r>
              <a:rPr lang="en-US" sz="2100">
                <a:solidFill>
                  <a:srgbClr val="643F07"/>
                </a:solidFill>
                <a:latin typeface="DG Jory"/>
                <a:ea typeface="DG Jory"/>
                <a:cs typeface="DG Jory"/>
                <a:sym typeface="DG Jory"/>
              </a:rPr>
              <a:t>KAPAN DIGUNAKAN</a:t>
            </a:r>
          </a:p>
          <a:p>
            <a:pPr algn="ctr">
              <a:lnSpc>
                <a:spcPts val="2647"/>
              </a:lnSpc>
            </a:pPr>
          </a:p>
          <a:p>
            <a:pPr algn="l">
              <a:lnSpc>
                <a:spcPts val="2647"/>
              </a:lnSpc>
            </a:pPr>
            <a:r>
              <a:rPr lang="en-US" sz="2100">
                <a:solidFill>
                  <a:srgbClr val="643F07"/>
                </a:solidFill>
                <a:latin typeface="DG Jory"/>
                <a:ea typeface="DG Jory"/>
                <a:cs typeface="DG Jory"/>
                <a:sym typeface="DG Jory"/>
              </a:rPr>
              <a:t>Gunakan SVM apabila memiliki dataset yang berdimensi tinggi dan juga memiliki banyak fitur yang digunakan.</a:t>
            </a:r>
          </a:p>
          <a:p>
            <a:pPr algn="l">
              <a:lnSpc>
                <a:spcPts val="2647"/>
              </a:lnSpc>
            </a:pPr>
          </a:p>
          <a:p>
            <a:pPr algn="l">
              <a:lnSpc>
                <a:spcPts val="2647"/>
              </a:lnSpc>
            </a:pPr>
            <a:r>
              <a:rPr lang="en-US" sz="2100">
                <a:solidFill>
                  <a:srgbClr val="643F07"/>
                </a:solidFill>
                <a:latin typeface="DG Jory"/>
                <a:ea typeface="DG Jory"/>
                <a:cs typeface="DG Jory"/>
                <a:sym typeface="DG Jory"/>
              </a:rPr>
              <a:t>Karene umumnya SVM lebih digunakan pada field text analisis, analisis gambar dan genetic analisis karena data-data seperti ini memiliki dimensi yang tinggi.</a:t>
            </a:r>
          </a:p>
        </p:txBody>
      </p:sp>
      <p:grpSp>
        <p:nvGrpSpPr>
          <p:cNvPr name="Group 15" id="15"/>
          <p:cNvGrpSpPr/>
          <p:nvPr/>
        </p:nvGrpSpPr>
        <p:grpSpPr>
          <a:xfrm rot="0">
            <a:off x="9609204" y="2916729"/>
            <a:ext cx="5231555" cy="5025041"/>
            <a:chOff x="0" y="0"/>
            <a:chExt cx="1377858" cy="1323468"/>
          </a:xfrm>
        </p:grpSpPr>
        <p:sp>
          <p:nvSpPr>
            <p:cNvPr name="Freeform 16" id="16"/>
            <p:cNvSpPr/>
            <p:nvPr/>
          </p:nvSpPr>
          <p:spPr>
            <a:xfrm flipH="false" flipV="false" rot="0">
              <a:off x="0" y="0"/>
              <a:ext cx="1377858" cy="1323468"/>
            </a:xfrm>
            <a:custGeom>
              <a:avLst/>
              <a:gdLst/>
              <a:ahLst/>
              <a:cxnLst/>
              <a:rect r="r" b="b" t="t" l="l"/>
              <a:pathLst>
                <a:path h="1323468" w="1377858">
                  <a:moveTo>
                    <a:pt x="75472" y="0"/>
                  </a:moveTo>
                  <a:lnTo>
                    <a:pt x="1302386" y="0"/>
                  </a:lnTo>
                  <a:cubicBezTo>
                    <a:pt x="1344068" y="0"/>
                    <a:pt x="1377858" y="33790"/>
                    <a:pt x="1377858" y="75472"/>
                  </a:cubicBezTo>
                  <a:lnTo>
                    <a:pt x="1377858" y="1247995"/>
                  </a:lnTo>
                  <a:cubicBezTo>
                    <a:pt x="1377858" y="1268012"/>
                    <a:pt x="1369907" y="1287208"/>
                    <a:pt x="1355753" y="1301362"/>
                  </a:cubicBezTo>
                  <a:cubicBezTo>
                    <a:pt x="1341599" y="1315516"/>
                    <a:pt x="1322402" y="1323468"/>
                    <a:pt x="1302386" y="1323468"/>
                  </a:cubicBezTo>
                  <a:lnTo>
                    <a:pt x="75472" y="1323468"/>
                  </a:lnTo>
                  <a:cubicBezTo>
                    <a:pt x="55456" y="1323468"/>
                    <a:pt x="36259" y="1315516"/>
                    <a:pt x="22105" y="1301362"/>
                  </a:cubicBezTo>
                  <a:cubicBezTo>
                    <a:pt x="7952" y="1287208"/>
                    <a:pt x="0" y="1268012"/>
                    <a:pt x="0" y="1247995"/>
                  </a:cubicBezTo>
                  <a:lnTo>
                    <a:pt x="0" y="75472"/>
                  </a:lnTo>
                  <a:cubicBezTo>
                    <a:pt x="0" y="55456"/>
                    <a:pt x="7952" y="36259"/>
                    <a:pt x="22105" y="22105"/>
                  </a:cubicBezTo>
                  <a:cubicBezTo>
                    <a:pt x="36259" y="7952"/>
                    <a:pt x="55456" y="0"/>
                    <a:pt x="75472" y="0"/>
                  </a:cubicBezTo>
                  <a:close/>
                </a:path>
              </a:pathLst>
            </a:custGeom>
            <a:solidFill>
              <a:srgbClr val="FFF2E0"/>
            </a:solidFill>
          </p:spPr>
        </p:sp>
        <p:sp>
          <p:nvSpPr>
            <p:cNvPr name="TextBox 17" id="17"/>
            <p:cNvSpPr txBox="true"/>
            <p:nvPr/>
          </p:nvSpPr>
          <p:spPr>
            <a:xfrm>
              <a:off x="0" y="-38100"/>
              <a:ext cx="1377858" cy="1361568"/>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10094050" y="3622524"/>
            <a:ext cx="4261864" cy="3003423"/>
          </a:xfrm>
          <a:prstGeom prst="rect">
            <a:avLst/>
          </a:prstGeom>
        </p:spPr>
        <p:txBody>
          <a:bodyPr anchor="t" rtlCol="false" tIns="0" lIns="0" bIns="0" rIns="0">
            <a:spAutoFit/>
          </a:bodyPr>
          <a:lstStyle/>
          <a:p>
            <a:pPr algn="ctr">
              <a:lnSpc>
                <a:spcPts val="2646"/>
              </a:lnSpc>
            </a:pPr>
            <a:r>
              <a:rPr lang="en-US" sz="2100">
                <a:solidFill>
                  <a:srgbClr val="643F07"/>
                </a:solidFill>
                <a:latin typeface="DG Jory"/>
                <a:ea typeface="DG Jory"/>
                <a:cs typeface="DG Jory"/>
                <a:sym typeface="DG Jory"/>
              </a:rPr>
              <a:t>KAPAN TIDAK DIGUNAKAN</a:t>
            </a:r>
          </a:p>
          <a:p>
            <a:pPr algn="ctr">
              <a:lnSpc>
                <a:spcPts val="2646"/>
              </a:lnSpc>
            </a:pPr>
          </a:p>
          <a:p>
            <a:pPr algn="l">
              <a:lnSpc>
                <a:spcPts val="2646"/>
              </a:lnSpc>
            </a:pPr>
            <a:r>
              <a:rPr lang="en-US" sz="2100">
                <a:solidFill>
                  <a:srgbClr val="643F07"/>
                </a:solidFill>
                <a:latin typeface="DG Jory"/>
                <a:ea typeface="DG Jory"/>
                <a:cs typeface="DG Jory"/>
                <a:sym typeface="DG Jory"/>
              </a:rPr>
              <a:t>1. Model mudah dijelaskan</a:t>
            </a:r>
          </a:p>
          <a:p>
            <a:pPr algn="l">
              <a:lnSpc>
                <a:spcPts val="2646"/>
              </a:lnSpc>
            </a:pPr>
          </a:p>
          <a:p>
            <a:pPr algn="l">
              <a:lnSpc>
                <a:spcPts val="2646"/>
              </a:lnSpc>
            </a:pPr>
            <a:r>
              <a:rPr lang="en-US" sz="2100">
                <a:solidFill>
                  <a:srgbClr val="643F07"/>
                </a:solidFill>
                <a:latin typeface="DG Jory"/>
                <a:ea typeface="DG Jory"/>
                <a:cs typeface="DG Jory"/>
                <a:sym typeface="DG Jory"/>
              </a:rPr>
              <a:t>2. Tidak ada waktu untuk tuning, sensitif terhadap parameter dan pilihan kernel.</a:t>
            </a:r>
          </a:p>
          <a:p>
            <a:pPr algn="l">
              <a:lnSpc>
                <a:spcPts val="2646"/>
              </a:lnSpc>
            </a:pPr>
          </a:p>
          <a:p>
            <a:pPr algn="l">
              <a:lnSpc>
                <a:spcPts val="2646"/>
              </a:lnSpc>
            </a:pPr>
            <a:r>
              <a:rPr lang="en-US" sz="2100">
                <a:solidFill>
                  <a:srgbClr val="643F07"/>
                </a:solidFill>
                <a:latin typeface="DG Jory"/>
                <a:ea typeface="DG Jory"/>
                <a:cs typeface="DG Jory"/>
                <a:sym typeface="DG Jory"/>
              </a:rPr>
              <a:t>3. Data sangat besar, karena SVM akan lama sekali jika jumlah data banyak.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DBB5"/>
        </a:solidFill>
      </p:bgPr>
    </p:bg>
    <p:spTree>
      <p:nvGrpSpPr>
        <p:cNvPr id="1" name=""/>
        <p:cNvGrpSpPr/>
        <p:nvPr/>
      </p:nvGrpSpPr>
      <p:grpSpPr>
        <a:xfrm>
          <a:off x="0" y="0"/>
          <a:ext cx="0" cy="0"/>
          <a:chOff x="0" y="0"/>
          <a:chExt cx="0" cy="0"/>
        </a:xfrm>
      </p:grpSpPr>
      <p:sp>
        <p:nvSpPr>
          <p:cNvPr name="Freeform 2" id="2"/>
          <p:cNvSpPr/>
          <p:nvPr/>
        </p:nvSpPr>
        <p:spPr>
          <a:xfrm flipH="false" flipV="false" rot="0">
            <a:off x="-6544166" y="2666958"/>
            <a:ext cx="6734401" cy="6734401"/>
          </a:xfrm>
          <a:custGeom>
            <a:avLst/>
            <a:gdLst/>
            <a:ahLst/>
            <a:cxnLst/>
            <a:rect r="r" b="b" t="t" l="l"/>
            <a:pathLst>
              <a:path h="6734401" w="6734401">
                <a:moveTo>
                  <a:pt x="0" y="0"/>
                </a:moveTo>
                <a:lnTo>
                  <a:pt x="6734401" y="0"/>
                </a:lnTo>
                <a:lnTo>
                  <a:pt x="6734401" y="6734401"/>
                </a:lnTo>
                <a:lnTo>
                  <a:pt x="0" y="67344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338881">
            <a:off x="-5052605"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4"/>
            <a:stretch>
              <a:fillRect l="0" t="0" r="0" b="0"/>
            </a:stretch>
          </a:blipFill>
        </p:spPr>
      </p:sp>
      <p:sp>
        <p:nvSpPr>
          <p:cNvPr name="Freeform 4" id="4"/>
          <p:cNvSpPr/>
          <p:nvPr/>
        </p:nvSpPr>
        <p:spPr>
          <a:xfrm flipH="false" flipV="false" rot="0">
            <a:off x="17259300" y="-2131358"/>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782647">
            <a:off x="12376563"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4"/>
            <a:stretch>
              <a:fillRect l="0" t="0" r="0" b="0"/>
            </a:stretch>
          </a:blipFill>
        </p:spPr>
      </p:sp>
      <p:sp>
        <p:nvSpPr>
          <p:cNvPr name="Freeform 6" id="6"/>
          <p:cNvSpPr/>
          <p:nvPr/>
        </p:nvSpPr>
        <p:spPr>
          <a:xfrm flipH="false" flipV="false" rot="0">
            <a:off x="116058" y="73070"/>
            <a:ext cx="2041151" cy="1911260"/>
          </a:xfrm>
          <a:custGeom>
            <a:avLst/>
            <a:gdLst/>
            <a:ahLst/>
            <a:cxnLst/>
            <a:rect r="r" b="b" t="t" l="l"/>
            <a:pathLst>
              <a:path h="1911260" w="2041151">
                <a:moveTo>
                  <a:pt x="0" y="0"/>
                </a:moveTo>
                <a:lnTo>
                  <a:pt x="2041152" y="0"/>
                </a:lnTo>
                <a:lnTo>
                  <a:pt x="2041152" y="1911260"/>
                </a:lnTo>
                <a:lnTo>
                  <a:pt x="0" y="1911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916717" y="4155972"/>
            <a:ext cx="1689965" cy="1582422"/>
          </a:xfrm>
          <a:custGeom>
            <a:avLst/>
            <a:gdLst/>
            <a:ahLst/>
            <a:cxnLst/>
            <a:rect r="r" b="b" t="t" l="l"/>
            <a:pathLst>
              <a:path h="1582422" w="1689965">
                <a:moveTo>
                  <a:pt x="0" y="0"/>
                </a:moveTo>
                <a:lnTo>
                  <a:pt x="1689965" y="0"/>
                </a:lnTo>
                <a:lnTo>
                  <a:pt x="1689965" y="1582422"/>
                </a:lnTo>
                <a:lnTo>
                  <a:pt x="0" y="15824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4221054" y="-486715"/>
            <a:ext cx="9845893" cy="13961476"/>
          </a:xfrm>
          <a:custGeom>
            <a:avLst/>
            <a:gdLst/>
            <a:ahLst/>
            <a:cxnLst/>
            <a:rect r="r" b="b" t="t" l="l"/>
            <a:pathLst>
              <a:path h="13961476" w="9845893">
                <a:moveTo>
                  <a:pt x="0" y="0"/>
                </a:moveTo>
                <a:lnTo>
                  <a:pt x="9845892" y="0"/>
                </a:lnTo>
                <a:lnTo>
                  <a:pt x="9845892" y="13961475"/>
                </a:lnTo>
                <a:lnTo>
                  <a:pt x="0" y="139614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3652332" y="2254374"/>
            <a:ext cx="1344947" cy="997706"/>
          </a:xfrm>
          <a:custGeom>
            <a:avLst/>
            <a:gdLst/>
            <a:ahLst/>
            <a:cxnLst/>
            <a:rect r="r" b="b" t="t" l="l"/>
            <a:pathLst>
              <a:path h="997706" w="1344947">
                <a:moveTo>
                  <a:pt x="0" y="0"/>
                </a:moveTo>
                <a:lnTo>
                  <a:pt x="1344946" y="0"/>
                </a:lnTo>
                <a:lnTo>
                  <a:pt x="1344946" y="997705"/>
                </a:lnTo>
                <a:lnTo>
                  <a:pt x="0" y="9977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4310161" y="73070"/>
            <a:ext cx="10275143" cy="1410382"/>
            <a:chOff x="0" y="0"/>
            <a:chExt cx="13700191" cy="1880510"/>
          </a:xfrm>
        </p:grpSpPr>
        <p:sp>
          <p:nvSpPr>
            <p:cNvPr name="Freeform 11" id="11"/>
            <p:cNvSpPr/>
            <p:nvPr/>
          </p:nvSpPr>
          <p:spPr>
            <a:xfrm flipH="false" flipV="false" rot="0">
              <a:off x="1289448" y="0"/>
              <a:ext cx="11121295" cy="1880510"/>
            </a:xfrm>
            <a:custGeom>
              <a:avLst/>
              <a:gdLst/>
              <a:ahLst/>
              <a:cxnLst/>
              <a:rect r="r" b="b" t="t" l="l"/>
              <a:pathLst>
                <a:path h="1880510" w="11121295">
                  <a:moveTo>
                    <a:pt x="0" y="0"/>
                  </a:moveTo>
                  <a:lnTo>
                    <a:pt x="11121295" y="0"/>
                  </a:lnTo>
                  <a:lnTo>
                    <a:pt x="11121295" y="1880510"/>
                  </a:lnTo>
                  <a:lnTo>
                    <a:pt x="0" y="18805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0" y="334052"/>
              <a:ext cx="13700191" cy="1393380"/>
            </a:xfrm>
            <a:prstGeom prst="rect">
              <a:avLst/>
            </a:prstGeom>
          </p:spPr>
          <p:txBody>
            <a:bodyPr anchor="t" rtlCol="false" tIns="0" lIns="0" bIns="0" rIns="0">
              <a:spAutoFit/>
            </a:bodyPr>
            <a:lstStyle/>
            <a:p>
              <a:pPr algn="ctr">
                <a:lnSpc>
                  <a:spcPts val="7360"/>
                </a:lnSpc>
              </a:pPr>
              <a:r>
                <a:rPr lang="en-US" b="true" sz="7747" spc="162">
                  <a:solidFill>
                    <a:srgbClr val="FFFAF3"/>
                  </a:solidFill>
                  <a:latin typeface="Londrina Solid Heavy"/>
                  <a:ea typeface="Londrina Solid Heavy"/>
                  <a:cs typeface="Londrina Solid Heavy"/>
                  <a:sym typeface="Londrina Solid Heavy"/>
                </a:rPr>
                <a:t>CARA KERJA SVM </a:t>
              </a:r>
            </a:p>
          </p:txBody>
        </p:sp>
      </p:grpSp>
      <p:sp>
        <p:nvSpPr>
          <p:cNvPr name="TextBox 13" id="13"/>
          <p:cNvSpPr txBox="true"/>
          <p:nvPr/>
        </p:nvSpPr>
        <p:spPr>
          <a:xfrm rot="0">
            <a:off x="3832851" y="2043372"/>
            <a:ext cx="9262790" cy="8369636"/>
          </a:xfrm>
          <a:prstGeom prst="rect">
            <a:avLst/>
          </a:prstGeom>
        </p:spPr>
        <p:txBody>
          <a:bodyPr anchor="t" rtlCol="false" tIns="0" lIns="0" bIns="0" rIns="0">
            <a:spAutoFit/>
          </a:bodyPr>
          <a:lstStyle/>
          <a:p>
            <a:pPr algn="l">
              <a:lnSpc>
                <a:spcPts val="2129"/>
              </a:lnSpc>
            </a:pPr>
            <a:r>
              <a:rPr lang="en-US" sz="1690" b="true">
                <a:solidFill>
                  <a:srgbClr val="643F07"/>
                </a:solidFill>
                <a:latin typeface="DG Jory Bold"/>
                <a:ea typeface="DG Jory Bold"/>
                <a:cs typeface="DG Jory Bold"/>
                <a:sym typeface="DG Jory Bold"/>
              </a:rPr>
              <a:t>1. Data Diubah Jadi Angka (Vectorization)</a:t>
            </a:r>
          </a:p>
          <a:p>
            <a:pPr algn="l">
              <a:lnSpc>
                <a:spcPts val="2129"/>
              </a:lnSpc>
            </a:pPr>
            <a:r>
              <a:rPr lang="en-US" sz="1690">
                <a:solidFill>
                  <a:srgbClr val="643F07"/>
                </a:solidFill>
                <a:latin typeface="DG Jory"/>
                <a:ea typeface="DG Jory"/>
                <a:cs typeface="DG Jory"/>
                <a:sym typeface="DG Jory"/>
              </a:rPr>
              <a:t>Setiap kata → diambil fiturnya → diubah menjadi angka/vektor yang bisa diproses SVM.</a:t>
            </a:r>
          </a:p>
          <a:p>
            <a:pPr algn="l">
              <a:lnSpc>
                <a:spcPts val="2129"/>
              </a:lnSpc>
            </a:pPr>
          </a:p>
          <a:p>
            <a:pPr algn="l">
              <a:lnSpc>
                <a:spcPts val="2129"/>
              </a:lnSpc>
            </a:pPr>
            <a:r>
              <a:rPr lang="en-US" sz="1690" b="true">
                <a:solidFill>
                  <a:srgbClr val="643F07"/>
                </a:solidFill>
                <a:latin typeface="DG Jory Bold"/>
                <a:ea typeface="DG Jory Bold"/>
                <a:cs typeface="DG Jory Bold"/>
                <a:sym typeface="DG Jory Bold"/>
              </a:rPr>
              <a:t>2. Pemberian Label Kelas</a:t>
            </a:r>
          </a:p>
          <a:p>
            <a:pPr algn="l">
              <a:lnSpc>
                <a:spcPts val="2129"/>
              </a:lnSpc>
            </a:pPr>
            <a:r>
              <a:rPr lang="en-US" sz="1690">
                <a:solidFill>
                  <a:srgbClr val="643F07"/>
                </a:solidFill>
                <a:latin typeface="DG Jory"/>
                <a:ea typeface="DG Jory"/>
                <a:cs typeface="DG Jory"/>
                <a:sym typeface="DG Jory"/>
              </a:rPr>
              <a:t>SVM hanya bisa 2 kelas → maka dipakai OVA (One Versus All)</a:t>
            </a:r>
          </a:p>
          <a:p>
            <a:pPr algn="l">
              <a:lnSpc>
                <a:spcPts val="2129"/>
              </a:lnSpc>
            </a:pPr>
            <a:r>
              <a:rPr lang="en-US" sz="1690">
                <a:solidFill>
                  <a:srgbClr val="643F07"/>
                </a:solidFill>
                <a:latin typeface="DG Jory"/>
                <a:ea typeface="DG Jory"/>
                <a:cs typeface="DG Jory"/>
                <a:sym typeface="DG Jory"/>
              </a:rPr>
              <a:t> • Kelas target = 1</a:t>
            </a:r>
          </a:p>
          <a:p>
            <a:pPr algn="l">
              <a:lnSpc>
                <a:spcPts val="2129"/>
              </a:lnSpc>
            </a:pPr>
            <a:r>
              <a:rPr lang="en-US" sz="1690">
                <a:solidFill>
                  <a:srgbClr val="643F07"/>
                </a:solidFill>
                <a:latin typeface="DG Jory"/>
                <a:ea typeface="DG Jory"/>
                <a:cs typeface="DG Jory"/>
                <a:sym typeface="DG Jory"/>
              </a:rPr>
              <a:t> • Semua kelas lain = – 1</a:t>
            </a:r>
          </a:p>
          <a:p>
            <a:pPr algn="l">
              <a:lnSpc>
                <a:spcPts val="2129"/>
              </a:lnSpc>
            </a:pPr>
          </a:p>
          <a:p>
            <a:pPr algn="l">
              <a:lnSpc>
                <a:spcPts val="2129"/>
              </a:lnSpc>
            </a:pPr>
            <a:r>
              <a:rPr lang="en-US" sz="1690" b="true">
                <a:solidFill>
                  <a:srgbClr val="643F07"/>
                </a:solidFill>
                <a:latin typeface="DG Jory Bold"/>
                <a:ea typeface="DG Jory Bold"/>
                <a:cs typeface="DG Jory Bold"/>
                <a:sym typeface="DG Jory Bold"/>
              </a:rPr>
              <a:t>3</a:t>
            </a:r>
            <a:r>
              <a:rPr lang="en-US" sz="1690" b="true">
                <a:solidFill>
                  <a:srgbClr val="643F07"/>
                </a:solidFill>
                <a:latin typeface="DG Jory Bold"/>
                <a:ea typeface="DG Jory Bold"/>
                <a:cs typeface="DG Jory Bold"/>
                <a:sym typeface="DG Jory Bold"/>
              </a:rPr>
              <a:t>. Mencari Garis Pemisah Terbaik (Hyperplane)</a:t>
            </a:r>
          </a:p>
          <a:p>
            <a:pPr algn="l">
              <a:lnSpc>
                <a:spcPts val="2129"/>
              </a:lnSpc>
            </a:pPr>
            <a:r>
              <a:rPr lang="en-US" sz="1690">
                <a:solidFill>
                  <a:srgbClr val="643F07"/>
                </a:solidFill>
                <a:latin typeface="DG Jory"/>
                <a:ea typeface="DG Jory"/>
                <a:cs typeface="DG Jory"/>
                <a:sym typeface="DG Jory"/>
              </a:rPr>
              <a:t>SVM membuat garis/bidang pemisah antara kelas-kelas.</a:t>
            </a:r>
          </a:p>
          <a:p>
            <a:pPr algn="l">
              <a:lnSpc>
                <a:spcPts val="2129"/>
              </a:lnSpc>
            </a:pPr>
            <a:r>
              <a:rPr lang="en-US" sz="1690">
                <a:solidFill>
                  <a:srgbClr val="643F07"/>
                </a:solidFill>
                <a:latin typeface="DG Jory"/>
                <a:ea typeface="DG Jory"/>
                <a:cs typeface="DG Jory"/>
                <a:sym typeface="DG Jory"/>
              </a:rPr>
              <a:t> Tujuan: batas pemisah harus sejauh mungkin dari data kedua kelas.</a:t>
            </a:r>
          </a:p>
          <a:p>
            <a:pPr algn="l">
              <a:lnSpc>
                <a:spcPts val="2129"/>
              </a:lnSpc>
            </a:pPr>
          </a:p>
          <a:p>
            <a:pPr algn="l">
              <a:lnSpc>
                <a:spcPts val="2129"/>
              </a:lnSpc>
            </a:pPr>
            <a:r>
              <a:rPr lang="en-US" sz="1690" b="true">
                <a:solidFill>
                  <a:srgbClr val="643F07"/>
                </a:solidFill>
                <a:latin typeface="DG Jory Bold"/>
                <a:ea typeface="DG Jory Bold"/>
                <a:cs typeface="DG Jory Bold"/>
                <a:sym typeface="DG Jory Bold"/>
              </a:rPr>
              <a:t>4</a:t>
            </a:r>
            <a:r>
              <a:rPr lang="en-US" sz="1690" b="true">
                <a:solidFill>
                  <a:srgbClr val="643F07"/>
                </a:solidFill>
                <a:latin typeface="DG Jory Bold"/>
                <a:ea typeface="DG Jory Bold"/>
                <a:cs typeface="DG Jory Bold"/>
                <a:sym typeface="DG Jory Bold"/>
              </a:rPr>
              <a:t>. Menentukan Support Vector</a:t>
            </a:r>
          </a:p>
          <a:p>
            <a:pPr algn="l">
              <a:lnSpc>
                <a:spcPts val="2129"/>
              </a:lnSpc>
            </a:pPr>
            <a:r>
              <a:rPr lang="en-US" sz="1690">
                <a:solidFill>
                  <a:srgbClr val="643F07"/>
                </a:solidFill>
                <a:latin typeface="DG Jory"/>
                <a:ea typeface="DG Jory"/>
                <a:cs typeface="DG Jory"/>
                <a:sym typeface="DG Jory"/>
              </a:rPr>
              <a:t>Support vector = data yang paling dekat dengan garis pemisah.</a:t>
            </a:r>
          </a:p>
          <a:p>
            <a:pPr algn="l">
              <a:lnSpc>
                <a:spcPts val="2129"/>
              </a:lnSpc>
            </a:pPr>
            <a:r>
              <a:rPr lang="en-US" sz="1690">
                <a:solidFill>
                  <a:srgbClr val="643F07"/>
                </a:solidFill>
                <a:latin typeface="DG Jory"/>
                <a:ea typeface="DG Jory"/>
                <a:cs typeface="DG Jory"/>
                <a:sym typeface="DG Jory"/>
              </a:rPr>
              <a:t> Data ini paling berpengaruh dalam membentuk model.</a:t>
            </a:r>
          </a:p>
          <a:p>
            <a:pPr algn="l">
              <a:lnSpc>
                <a:spcPts val="2129"/>
              </a:lnSpc>
            </a:pPr>
          </a:p>
          <a:p>
            <a:pPr algn="l">
              <a:lnSpc>
                <a:spcPts val="2129"/>
              </a:lnSpc>
            </a:pPr>
            <a:r>
              <a:rPr lang="en-US" sz="1690" b="true">
                <a:solidFill>
                  <a:srgbClr val="643F07"/>
                </a:solidFill>
                <a:latin typeface="DG Jory Bold"/>
                <a:ea typeface="DG Jory Bold"/>
                <a:cs typeface="DG Jory Bold"/>
                <a:sym typeface="DG Jory Bold"/>
              </a:rPr>
              <a:t>5</a:t>
            </a:r>
            <a:r>
              <a:rPr lang="en-US" sz="1690" b="true">
                <a:solidFill>
                  <a:srgbClr val="643F07"/>
                </a:solidFill>
                <a:latin typeface="DG Jory Bold"/>
                <a:ea typeface="DG Jory Bold"/>
                <a:cs typeface="DG Jory Bold"/>
                <a:sym typeface="DG Jory Bold"/>
              </a:rPr>
              <a:t>. Menggunakan Kernel Linear</a:t>
            </a:r>
          </a:p>
          <a:p>
            <a:pPr algn="l">
              <a:lnSpc>
                <a:spcPts val="2129"/>
              </a:lnSpc>
            </a:pPr>
            <a:r>
              <a:rPr lang="en-US" sz="1690">
                <a:solidFill>
                  <a:srgbClr val="643F07"/>
                </a:solidFill>
                <a:latin typeface="DG Jory"/>
                <a:ea typeface="DG Jory"/>
                <a:cs typeface="DG Jory"/>
                <a:sym typeface="DG Jory"/>
              </a:rPr>
              <a:t>Kernel Linear dipakai untuk menghitung jarak antar vektor:</a:t>
            </a:r>
          </a:p>
          <a:p>
            <a:pPr algn="l">
              <a:lnSpc>
                <a:spcPts val="2129"/>
              </a:lnSpc>
            </a:pPr>
            <a:r>
              <a:rPr lang="en-US" sz="1690">
                <a:solidFill>
                  <a:srgbClr val="643F07"/>
                </a:solidFill>
                <a:latin typeface="DG Jory"/>
                <a:ea typeface="DG Jory"/>
                <a:cs typeface="DG Jory"/>
                <a:sym typeface="DG Jory"/>
              </a:rPr>
              <a:t> → membantu SVM menemukan batas antar kelas.</a:t>
            </a:r>
          </a:p>
          <a:p>
            <a:pPr algn="l">
              <a:lnSpc>
                <a:spcPts val="2129"/>
              </a:lnSpc>
            </a:pPr>
          </a:p>
          <a:p>
            <a:pPr algn="l">
              <a:lnSpc>
                <a:spcPts val="2129"/>
              </a:lnSpc>
            </a:pPr>
            <a:r>
              <a:rPr lang="en-US" sz="1690" b="true">
                <a:solidFill>
                  <a:srgbClr val="643F07"/>
                </a:solidFill>
                <a:latin typeface="DG Jory Bold"/>
                <a:ea typeface="DG Jory Bold"/>
                <a:cs typeface="DG Jory Bold"/>
                <a:sym typeface="DG Jory Bold"/>
              </a:rPr>
              <a:t>6. Training Selesai → Terbentuk Model (w &amp; b)</a:t>
            </a:r>
          </a:p>
          <a:p>
            <a:pPr algn="l">
              <a:lnSpc>
                <a:spcPts val="2129"/>
              </a:lnSpc>
            </a:pPr>
            <a:r>
              <a:rPr lang="en-US" sz="1690">
                <a:solidFill>
                  <a:srgbClr val="643F07"/>
                </a:solidFill>
                <a:latin typeface="DG Jory"/>
                <a:ea typeface="DG Jory"/>
                <a:cs typeface="DG Jory"/>
                <a:sym typeface="DG Jory"/>
              </a:rPr>
              <a:t>Dari proses training, SVM menghasilkan:</a:t>
            </a:r>
          </a:p>
          <a:p>
            <a:pPr algn="l">
              <a:lnSpc>
                <a:spcPts val="2129"/>
              </a:lnSpc>
            </a:pPr>
            <a:r>
              <a:rPr lang="en-US" sz="1690">
                <a:solidFill>
                  <a:srgbClr val="643F07"/>
                </a:solidFill>
                <a:latin typeface="DG Jory"/>
                <a:ea typeface="DG Jory"/>
                <a:cs typeface="DG Jory"/>
                <a:sym typeface="DG Jory"/>
              </a:rPr>
              <a:t> • w (hyperplane)</a:t>
            </a:r>
          </a:p>
          <a:p>
            <a:pPr algn="l">
              <a:lnSpc>
                <a:spcPts val="2129"/>
              </a:lnSpc>
            </a:pPr>
            <a:r>
              <a:rPr lang="en-US" sz="1690">
                <a:solidFill>
                  <a:srgbClr val="643F07"/>
                </a:solidFill>
                <a:latin typeface="DG Jory"/>
                <a:ea typeface="DG Jory"/>
                <a:cs typeface="DG Jory"/>
                <a:sym typeface="DG Jory"/>
              </a:rPr>
              <a:t> • b (bias)</a:t>
            </a:r>
          </a:p>
          <a:p>
            <a:pPr algn="l">
              <a:lnSpc>
                <a:spcPts val="2129"/>
              </a:lnSpc>
            </a:pPr>
            <a:r>
              <a:rPr lang="en-US" sz="1690">
                <a:solidFill>
                  <a:srgbClr val="643F07"/>
                </a:solidFill>
                <a:latin typeface="DG Jory"/>
                <a:ea typeface="DG Jory"/>
                <a:cs typeface="DG Jory"/>
                <a:sym typeface="DG Jory"/>
              </a:rPr>
              <a:t> • support vector</a:t>
            </a:r>
          </a:p>
          <a:p>
            <a:pPr algn="l">
              <a:lnSpc>
                <a:spcPts val="2129"/>
              </a:lnSpc>
            </a:pPr>
            <a:r>
              <a:rPr lang="en-US" sz="1690">
                <a:solidFill>
                  <a:srgbClr val="643F07"/>
                </a:solidFill>
                <a:latin typeface="DG Jory"/>
                <a:ea typeface="DG Jory"/>
                <a:cs typeface="DG Jory"/>
                <a:sym typeface="DG Jory"/>
              </a:rPr>
              <a:t>Model ini dipakai untuk prediksi.</a:t>
            </a:r>
          </a:p>
          <a:p>
            <a:pPr algn="l">
              <a:lnSpc>
                <a:spcPts val="2129"/>
              </a:lnSpc>
            </a:pPr>
          </a:p>
          <a:p>
            <a:pPr algn="l">
              <a:lnSpc>
                <a:spcPts val="2129"/>
              </a:lnSpc>
            </a:pPr>
            <a:r>
              <a:rPr lang="en-US" sz="1690" b="true">
                <a:solidFill>
                  <a:srgbClr val="643F07"/>
                </a:solidFill>
                <a:latin typeface="DG Jory Bold"/>
                <a:ea typeface="DG Jory Bold"/>
                <a:cs typeface="DG Jory Bold"/>
                <a:sym typeface="DG Jory Bold"/>
              </a:rPr>
              <a:t>7. Testing → Prediksi Kelas Baru</a:t>
            </a:r>
          </a:p>
          <a:p>
            <a:pPr algn="l">
              <a:lnSpc>
                <a:spcPts val="2129"/>
              </a:lnSpc>
            </a:pPr>
            <a:r>
              <a:rPr lang="en-US" sz="1690">
                <a:solidFill>
                  <a:srgbClr val="643F07"/>
                </a:solidFill>
                <a:latin typeface="DG Jory"/>
                <a:ea typeface="DG Jory"/>
                <a:cs typeface="DG Jory"/>
                <a:sym typeface="DG Jory"/>
              </a:rPr>
              <a:t>Data baru → diubah menjadi vektor → dimasukkan ke model SVM.</a:t>
            </a:r>
          </a:p>
          <a:p>
            <a:pPr algn="l">
              <a:lnSpc>
                <a:spcPts val="2129"/>
              </a:lnSpc>
            </a:pPr>
            <a:r>
              <a:rPr lang="en-US" sz="1690">
                <a:solidFill>
                  <a:srgbClr val="643F07"/>
                </a:solidFill>
                <a:latin typeface="DG Jory"/>
                <a:ea typeface="DG Jory"/>
                <a:cs typeface="DG Jory"/>
                <a:sym typeface="DG Jory"/>
              </a:rPr>
              <a:t> SVM memilih kelas dengan nilai paling tinggi (argmax).</a:t>
            </a:r>
          </a:p>
          <a:p>
            <a:pPr algn="l">
              <a:lnSpc>
                <a:spcPts val="212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DBB5"/>
        </a:solidFill>
      </p:bgPr>
    </p:bg>
    <p:spTree>
      <p:nvGrpSpPr>
        <p:cNvPr id="1" name=""/>
        <p:cNvGrpSpPr/>
        <p:nvPr/>
      </p:nvGrpSpPr>
      <p:grpSpPr>
        <a:xfrm>
          <a:off x="0" y="0"/>
          <a:ext cx="0" cy="0"/>
          <a:chOff x="0" y="0"/>
          <a:chExt cx="0" cy="0"/>
        </a:xfrm>
      </p:grpSpPr>
      <p:sp>
        <p:nvSpPr>
          <p:cNvPr name="Freeform 2" id="2"/>
          <p:cNvSpPr/>
          <p:nvPr/>
        </p:nvSpPr>
        <p:spPr>
          <a:xfrm flipH="false" flipV="false" rot="0">
            <a:off x="-6544166" y="2666958"/>
            <a:ext cx="6734401" cy="6734401"/>
          </a:xfrm>
          <a:custGeom>
            <a:avLst/>
            <a:gdLst/>
            <a:ahLst/>
            <a:cxnLst/>
            <a:rect r="r" b="b" t="t" l="l"/>
            <a:pathLst>
              <a:path h="6734401" w="6734401">
                <a:moveTo>
                  <a:pt x="0" y="0"/>
                </a:moveTo>
                <a:lnTo>
                  <a:pt x="6734401" y="0"/>
                </a:lnTo>
                <a:lnTo>
                  <a:pt x="6734401" y="6734401"/>
                </a:lnTo>
                <a:lnTo>
                  <a:pt x="0" y="67344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338881">
            <a:off x="-5052605"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4"/>
            <a:stretch>
              <a:fillRect l="0" t="0" r="0" b="0"/>
            </a:stretch>
          </a:blipFill>
        </p:spPr>
      </p:sp>
      <p:sp>
        <p:nvSpPr>
          <p:cNvPr name="Freeform 4" id="4"/>
          <p:cNvSpPr/>
          <p:nvPr/>
        </p:nvSpPr>
        <p:spPr>
          <a:xfrm flipH="false" flipV="false" rot="0">
            <a:off x="17259300" y="-2131358"/>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782647">
            <a:off x="12376563"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4"/>
            <a:stretch>
              <a:fillRect l="0" t="0" r="0" b="0"/>
            </a:stretch>
          </a:blipFill>
        </p:spPr>
      </p:sp>
      <p:sp>
        <p:nvSpPr>
          <p:cNvPr name="Freeform 6" id="6"/>
          <p:cNvSpPr/>
          <p:nvPr/>
        </p:nvSpPr>
        <p:spPr>
          <a:xfrm flipH="false" flipV="false" rot="0">
            <a:off x="116058" y="73070"/>
            <a:ext cx="2041151" cy="1911260"/>
          </a:xfrm>
          <a:custGeom>
            <a:avLst/>
            <a:gdLst/>
            <a:ahLst/>
            <a:cxnLst/>
            <a:rect r="r" b="b" t="t" l="l"/>
            <a:pathLst>
              <a:path h="1911260" w="2041151">
                <a:moveTo>
                  <a:pt x="0" y="0"/>
                </a:moveTo>
                <a:lnTo>
                  <a:pt x="2041152" y="0"/>
                </a:lnTo>
                <a:lnTo>
                  <a:pt x="2041152" y="1911260"/>
                </a:lnTo>
                <a:lnTo>
                  <a:pt x="0" y="1911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916717" y="4155972"/>
            <a:ext cx="1689965" cy="1582422"/>
          </a:xfrm>
          <a:custGeom>
            <a:avLst/>
            <a:gdLst/>
            <a:ahLst/>
            <a:cxnLst/>
            <a:rect r="r" b="b" t="t" l="l"/>
            <a:pathLst>
              <a:path h="1582422" w="1689965">
                <a:moveTo>
                  <a:pt x="0" y="0"/>
                </a:moveTo>
                <a:lnTo>
                  <a:pt x="1689965" y="0"/>
                </a:lnTo>
                <a:lnTo>
                  <a:pt x="1689965" y="1582422"/>
                </a:lnTo>
                <a:lnTo>
                  <a:pt x="0" y="15824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299488" y="209537"/>
            <a:ext cx="9689024" cy="1638326"/>
          </a:xfrm>
          <a:custGeom>
            <a:avLst/>
            <a:gdLst/>
            <a:ahLst/>
            <a:cxnLst/>
            <a:rect r="r" b="b" t="t" l="l"/>
            <a:pathLst>
              <a:path h="1638326" w="9689024">
                <a:moveTo>
                  <a:pt x="0" y="0"/>
                </a:moveTo>
                <a:lnTo>
                  <a:pt x="9689024" y="0"/>
                </a:lnTo>
                <a:lnTo>
                  <a:pt x="9689024" y="1638326"/>
                </a:lnTo>
                <a:lnTo>
                  <a:pt x="0" y="16383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400000">
            <a:off x="4380514" y="-3781"/>
            <a:ext cx="9446834" cy="13395611"/>
          </a:xfrm>
          <a:custGeom>
            <a:avLst/>
            <a:gdLst/>
            <a:ahLst/>
            <a:cxnLst/>
            <a:rect r="r" b="b" t="t" l="l"/>
            <a:pathLst>
              <a:path h="13395611" w="9446834">
                <a:moveTo>
                  <a:pt x="0" y="0"/>
                </a:moveTo>
                <a:lnTo>
                  <a:pt x="9446834" y="0"/>
                </a:lnTo>
                <a:lnTo>
                  <a:pt x="9446834" y="13395610"/>
                </a:lnTo>
                <a:lnTo>
                  <a:pt x="0" y="133956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5037479" y="1349010"/>
            <a:ext cx="1344947" cy="997706"/>
          </a:xfrm>
          <a:custGeom>
            <a:avLst/>
            <a:gdLst/>
            <a:ahLst/>
            <a:cxnLst/>
            <a:rect r="r" b="b" t="t" l="l"/>
            <a:pathLst>
              <a:path h="997706" w="1344947">
                <a:moveTo>
                  <a:pt x="0" y="0"/>
                </a:moveTo>
                <a:lnTo>
                  <a:pt x="1344947" y="0"/>
                </a:lnTo>
                <a:lnTo>
                  <a:pt x="1344947" y="997706"/>
                </a:lnTo>
                <a:lnTo>
                  <a:pt x="0" y="99770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1" id="11"/>
          <p:cNvGrpSpPr/>
          <p:nvPr/>
        </p:nvGrpSpPr>
        <p:grpSpPr>
          <a:xfrm rot="0">
            <a:off x="4162489" y="2483581"/>
            <a:ext cx="9105125" cy="7604601"/>
            <a:chOff x="0" y="0"/>
            <a:chExt cx="12140166" cy="10139468"/>
          </a:xfrm>
        </p:grpSpPr>
        <p:sp>
          <p:nvSpPr>
            <p:cNvPr name="TextBox 12" id="12"/>
            <p:cNvSpPr txBox="true"/>
            <p:nvPr/>
          </p:nvSpPr>
          <p:spPr>
            <a:xfrm rot="0">
              <a:off x="0" y="-38100"/>
              <a:ext cx="12140166" cy="9886205"/>
            </a:xfrm>
            <a:prstGeom prst="rect">
              <a:avLst/>
            </a:prstGeom>
          </p:spPr>
          <p:txBody>
            <a:bodyPr anchor="t" rtlCol="false" tIns="0" lIns="0" bIns="0" rIns="0">
              <a:spAutoFit/>
            </a:bodyPr>
            <a:lstStyle/>
            <a:p>
              <a:pPr algn="l">
                <a:lnSpc>
                  <a:spcPts val="2665"/>
                </a:lnSpc>
              </a:pPr>
              <a:r>
                <a:rPr lang="en-US" sz="1903" spc="39" b="true">
                  <a:solidFill>
                    <a:srgbClr val="000000"/>
                  </a:solidFill>
                  <a:latin typeface="DG Jory Bold"/>
                  <a:ea typeface="DG Jory Bold"/>
                  <a:cs typeface="DG Jory Bold"/>
                  <a:sym typeface="DG Jory Bold"/>
                </a:rPr>
                <a:t>Linear</a:t>
              </a:r>
            </a:p>
            <a:p>
              <a:pPr algn="l">
                <a:lnSpc>
                  <a:spcPts val="2665"/>
                </a:lnSpc>
              </a:pPr>
              <a:r>
                <a:rPr lang="en-US" sz="1903" spc="39">
                  <a:solidFill>
                    <a:srgbClr val="000000"/>
                  </a:solidFill>
                  <a:latin typeface="DG Jory"/>
                  <a:ea typeface="DG Jory"/>
                  <a:cs typeface="DG Jory"/>
                  <a:sym typeface="DG Jory"/>
                </a:rPr>
                <a:t>Kernel linear menghitung dot prodcut dari dua vektor input, sesuai fitur asli.</a:t>
              </a:r>
            </a:p>
            <a:p>
              <a:pPr algn="l">
                <a:lnSpc>
                  <a:spcPts val="2665"/>
                </a:lnSpc>
              </a:pPr>
            </a:p>
            <a:p>
              <a:pPr algn="l">
                <a:lnSpc>
                  <a:spcPts val="2665"/>
                </a:lnSpc>
              </a:pPr>
            </a:p>
            <a:p>
              <a:pPr algn="l">
                <a:lnSpc>
                  <a:spcPts val="2665"/>
                </a:lnSpc>
              </a:pPr>
              <a:r>
                <a:rPr lang="en-US" sz="1903" spc="39" b="true">
                  <a:solidFill>
                    <a:srgbClr val="000000"/>
                  </a:solidFill>
                  <a:latin typeface="DG Jory Bold"/>
                  <a:ea typeface="DG Jory Bold"/>
                  <a:cs typeface="DG Jory Bold"/>
                  <a:sym typeface="DG Jory Bold"/>
                </a:rPr>
                <a:t>Polinomial</a:t>
              </a:r>
            </a:p>
            <a:p>
              <a:pPr algn="l">
                <a:lnSpc>
                  <a:spcPts val="2665"/>
                </a:lnSpc>
              </a:pPr>
              <a:r>
                <a:rPr lang="en-US" sz="1903" spc="39">
                  <a:solidFill>
                    <a:srgbClr val="000000"/>
                  </a:solidFill>
                  <a:latin typeface="DG Jory"/>
                  <a:ea typeface="DG Jory"/>
                  <a:cs typeface="DG Jory"/>
                  <a:sym typeface="DG Jory"/>
                </a:rPr>
                <a:t>Kernel polinomial menggunakan fungsi polinomial untuk memetakan vektor fitur ke dimensi yang lebih tinggi, memungkinkan pemisahan yang lebih kompleks.</a:t>
              </a:r>
            </a:p>
            <a:p>
              <a:pPr algn="l">
                <a:lnSpc>
                  <a:spcPts val="2665"/>
                </a:lnSpc>
              </a:pPr>
            </a:p>
            <a:p>
              <a:pPr algn="l">
                <a:lnSpc>
                  <a:spcPts val="2665"/>
                </a:lnSpc>
              </a:pPr>
            </a:p>
            <a:p>
              <a:pPr algn="l">
                <a:lnSpc>
                  <a:spcPts val="2665"/>
                </a:lnSpc>
              </a:pPr>
              <a:r>
                <a:rPr lang="en-US" sz="1903" spc="39" b="true">
                  <a:solidFill>
                    <a:srgbClr val="000000"/>
                  </a:solidFill>
                  <a:latin typeface="DG Jory Bold"/>
                  <a:ea typeface="DG Jory Bold"/>
                  <a:cs typeface="DG Jory Bold"/>
                  <a:sym typeface="DG Jory Bold"/>
                </a:rPr>
                <a:t>Gaussian Radial Basis Function (RBF)</a:t>
              </a:r>
            </a:p>
            <a:p>
              <a:pPr algn="l">
                <a:lnSpc>
                  <a:spcPts val="2665"/>
                </a:lnSpc>
              </a:pPr>
              <a:r>
                <a:rPr lang="en-US" sz="1903" spc="39">
                  <a:solidFill>
                    <a:srgbClr val="000000"/>
                  </a:solidFill>
                  <a:latin typeface="DG Jory"/>
                  <a:ea typeface="DG Jory"/>
                  <a:cs typeface="DG Jory"/>
                  <a:sym typeface="DG Jory"/>
                </a:rPr>
                <a:t>Penggunaan fungsi kernel ini untuk mentransformasikan vektor fitur ke ruang fitur berdimensi tak hingga.</a:t>
              </a:r>
            </a:p>
            <a:p>
              <a:pPr algn="l">
                <a:lnSpc>
                  <a:spcPts val="2665"/>
                </a:lnSpc>
              </a:pPr>
            </a:p>
            <a:p>
              <a:pPr algn="l">
                <a:lnSpc>
                  <a:spcPts val="2665"/>
                </a:lnSpc>
              </a:pPr>
            </a:p>
            <a:p>
              <a:pPr algn="l">
                <a:lnSpc>
                  <a:spcPts val="2665"/>
                </a:lnSpc>
              </a:pPr>
              <a:r>
                <a:rPr lang="en-US" sz="1903" spc="39" b="true">
                  <a:solidFill>
                    <a:srgbClr val="000000"/>
                  </a:solidFill>
                  <a:latin typeface="DG Jory Bold"/>
                  <a:ea typeface="DG Jory Bold"/>
                  <a:cs typeface="DG Jory Bold"/>
                  <a:sym typeface="DG Jory Bold"/>
                </a:rPr>
                <a:t>Sigmoid</a:t>
              </a:r>
            </a:p>
            <a:p>
              <a:pPr algn="l">
                <a:lnSpc>
                  <a:spcPts val="2665"/>
                </a:lnSpc>
              </a:pPr>
              <a:r>
                <a:rPr lang="en-US" sz="1903" spc="39">
                  <a:solidFill>
                    <a:srgbClr val="000000"/>
                  </a:solidFill>
                  <a:latin typeface="DG Jory"/>
                  <a:ea typeface="DG Jory"/>
                  <a:cs typeface="DG Jory"/>
                  <a:sym typeface="DG Jory"/>
                </a:rPr>
                <a:t>Menggunakan fungsi sigmoid untuk memetakan vektor ke ruang fitur non-linear.</a:t>
              </a:r>
            </a:p>
            <a:p>
              <a:pPr algn="l">
                <a:lnSpc>
                  <a:spcPts val="2665"/>
                </a:lnSpc>
              </a:pPr>
            </a:p>
            <a:p>
              <a:pPr algn="l">
                <a:lnSpc>
                  <a:spcPts val="2665"/>
                </a:lnSpc>
              </a:pPr>
            </a:p>
            <a:p>
              <a:pPr algn="l">
                <a:lnSpc>
                  <a:spcPts val="2665"/>
                </a:lnSpc>
              </a:pPr>
              <a:r>
                <a:rPr lang="en-US" sz="1903" spc="39" b="true">
                  <a:solidFill>
                    <a:srgbClr val="000000"/>
                  </a:solidFill>
                  <a:latin typeface="DG Jory Bold"/>
                  <a:ea typeface="DG Jory Bold"/>
                  <a:cs typeface="DG Jory Bold"/>
                  <a:sym typeface="DG Jory Bold"/>
                </a:rPr>
                <a:t>Fisher</a:t>
              </a:r>
            </a:p>
            <a:p>
              <a:pPr algn="l">
                <a:lnSpc>
                  <a:spcPts val="2665"/>
                </a:lnSpc>
              </a:pPr>
              <a:r>
                <a:rPr lang="en-US" sz="1903" spc="39">
                  <a:solidFill>
                    <a:srgbClr val="000000"/>
                  </a:solidFill>
                  <a:latin typeface="DG Jory"/>
                  <a:ea typeface="DG Jory"/>
                  <a:cs typeface="DG Jory"/>
                  <a:sym typeface="DG Jory"/>
                </a:rPr>
                <a:t>Menggunakan informasi probabilistik untuk transformasi data, menghitung seberapa mirip dua vektor fitur dalam hal perubahan parameter model.</a:t>
              </a:r>
            </a:p>
            <a:p>
              <a:pPr algn="l">
                <a:lnSpc>
                  <a:spcPts val="2665"/>
                </a:lnSpc>
                <a:spcBef>
                  <a:spcPct val="0"/>
                </a:spcBef>
              </a:pPr>
            </a:p>
          </p:txBody>
        </p:sp>
        <p:sp>
          <p:nvSpPr>
            <p:cNvPr name="Freeform 13" id="13"/>
            <p:cNvSpPr/>
            <p:nvPr/>
          </p:nvSpPr>
          <p:spPr>
            <a:xfrm flipH="false" flipV="false" rot="0">
              <a:off x="0" y="934345"/>
              <a:ext cx="2749909" cy="666645"/>
            </a:xfrm>
            <a:custGeom>
              <a:avLst/>
              <a:gdLst/>
              <a:ahLst/>
              <a:cxnLst/>
              <a:rect r="r" b="b" t="t" l="l"/>
              <a:pathLst>
                <a:path h="666645" w="2749909">
                  <a:moveTo>
                    <a:pt x="0" y="0"/>
                  </a:moveTo>
                  <a:lnTo>
                    <a:pt x="2749909" y="0"/>
                  </a:lnTo>
                  <a:lnTo>
                    <a:pt x="2749909" y="666645"/>
                  </a:lnTo>
                  <a:lnTo>
                    <a:pt x="0" y="666645"/>
                  </a:lnTo>
                  <a:lnTo>
                    <a:pt x="0" y="0"/>
                  </a:lnTo>
                  <a:close/>
                </a:path>
              </a:pathLst>
            </a:custGeom>
            <a:blipFill>
              <a:blip r:embed="rId13"/>
              <a:stretch>
                <a:fillRect l="0" t="0" r="0" b="0"/>
              </a:stretch>
            </a:blipFill>
          </p:spPr>
        </p:sp>
        <p:sp>
          <p:nvSpPr>
            <p:cNvPr name="Freeform 14" id="14"/>
            <p:cNvSpPr/>
            <p:nvPr/>
          </p:nvSpPr>
          <p:spPr>
            <a:xfrm flipH="false" flipV="false" rot="0">
              <a:off x="0" y="3176831"/>
              <a:ext cx="3467563" cy="652983"/>
            </a:xfrm>
            <a:custGeom>
              <a:avLst/>
              <a:gdLst/>
              <a:ahLst/>
              <a:cxnLst/>
              <a:rect r="r" b="b" t="t" l="l"/>
              <a:pathLst>
                <a:path h="652983" w="3467563">
                  <a:moveTo>
                    <a:pt x="0" y="0"/>
                  </a:moveTo>
                  <a:lnTo>
                    <a:pt x="3467563" y="0"/>
                  </a:lnTo>
                  <a:lnTo>
                    <a:pt x="3467563" y="652983"/>
                  </a:lnTo>
                  <a:lnTo>
                    <a:pt x="0" y="652983"/>
                  </a:lnTo>
                  <a:lnTo>
                    <a:pt x="0" y="0"/>
                  </a:lnTo>
                  <a:close/>
                </a:path>
              </a:pathLst>
            </a:custGeom>
            <a:blipFill>
              <a:blip r:embed="rId14"/>
              <a:stretch>
                <a:fillRect l="0" t="0" r="0" b="0"/>
              </a:stretch>
            </a:blipFill>
          </p:spPr>
        </p:sp>
        <p:sp>
          <p:nvSpPr>
            <p:cNvPr name="Freeform 15" id="15"/>
            <p:cNvSpPr/>
            <p:nvPr/>
          </p:nvSpPr>
          <p:spPr>
            <a:xfrm flipH="false" flipV="false" rot="0">
              <a:off x="0" y="5405655"/>
              <a:ext cx="3935585" cy="780700"/>
            </a:xfrm>
            <a:custGeom>
              <a:avLst/>
              <a:gdLst/>
              <a:ahLst/>
              <a:cxnLst/>
              <a:rect r="r" b="b" t="t" l="l"/>
              <a:pathLst>
                <a:path h="780700" w="3935585">
                  <a:moveTo>
                    <a:pt x="0" y="0"/>
                  </a:moveTo>
                  <a:lnTo>
                    <a:pt x="3935585" y="0"/>
                  </a:lnTo>
                  <a:lnTo>
                    <a:pt x="3935585" y="780700"/>
                  </a:lnTo>
                  <a:lnTo>
                    <a:pt x="0" y="780700"/>
                  </a:lnTo>
                  <a:lnTo>
                    <a:pt x="0" y="0"/>
                  </a:lnTo>
                  <a:close/>
                </a:path>
              </a:pathLst>
            </a:custGeom>
            <a:blipFill>
              <a:blip r:embed="rId15"/>
              <a:stretch>
                <a:fillRect l="0" t="0" r="0" b="0"/>
              </a:stretch>
            </a:blipFill>
          </p:spPr>
        </p:sp>
        <p:sp>
          <p:nvSpPr>
            <p:cNvPr name="Freeform 16" id="16"/>
            <p:cNvSpPr/>
            <p:nvPr/>
          </p:nvSpPr>
          <p:spPr>
            <a:xfrm flipH="false" flipV="false" rot="0">
              <a:off x="0" y="7217400"/>
              <a:ext cx="4809620" cy="695032"/>
            </a:xfrm>
            <a:custGeom>
              <a:avLst/>
              <a:gdLst/>
              <a:ahLst/>
              <a:cxnLst/>
              <a:rect r="r" b="b" t="t" l="l"/>
              <a:pathLst>
                <a:path h="695032" w="4809620">
                  <a:moveTo>
                    <a:pt x="0" y="0"/>
                  </a:moveTo>
                  <a:lnTo>
                    <a:pt x="4809620" y="0"/>
                  </a:lnTo>
                  <a:lnTo>
                    <a:pt x="4809620" y="695032"/>
                  </a:lnTo>
                  <a:lnTo>
                    <a:pt x="0" y="695032"/>
                  </a:lnTo>
                  <a:lnTo>
                    <a:pt x="0" y="0"/>
                  </a:lnTo>
                  <a:close/>
                </a:path>
              </a:pathLst>
            </a:custGeom>
            <a:blipFill>
              <a:blip r:embed="rId16"/>
              <a:stretch>
                <a:fillRect l="0" t="0" r="0" b="0"/>
              </a:stretch>
            </a:blipFill>
          </p:spPr>
        </p:sp>
        <p:sp>
          <p:nvSpPr>
            <p:cNvPr name="Freeform 17" id="17"/>
            <p:cNvSpPr/>
            <p:nvPr/>
          </p:nvSpPr>
          <p:spPr>
            <a:xfrm flipH="false" flipV="false" rot="0">
              <a:off x="0" y="9366452"/>
              <a:ext cx="4562063" cy="773016"/>
            </a:xfrm>
            <a:custGeom>
              <a:avLst/>
              <a:gdLst/>
              <a:ahLst/>
              <a:cxnLst/>
              <a:rect r="r" b="b" t="t" l="l"/>
              <a:pathLst>
                <a:path h="773016" w="4562063">
                  <a:moveTo>
                    <a:pt x="0" y="0"/>
                  </a:moveTo>
                  <a:lnTo>
                    <a:pt x="4562063" y="0"/>
                  </a:lnTo>
                  <a:lnTo>
                    <a:pt x="4562063" y="773016"/>
                  </a:lnTo>
                  <a:lnTo>
                    <a:pt x="0" y="773016"/>
                  </a:lnTo>
                  <a:lnTo>
                    <a:pt x="0" y="0"/>
                  </a:lnTo>
                  <a:close/>
                </a:path>
              </a:pathLst>
            </a:custGeom>
            <a:blipFill>
              <a:blip r:embed="rId17"/>
              <a:stretch>
                <a:fillRect l="0" t="0" r="0" b="0"/>
              </a:stretch>
            </a:blipFill>
          </p:spPr>
        </p:sp>
      </p:grpSp>
      <p:sp>
        <p:nvSpPr>
          <p:cNvPr name="TextBox 18" id="18"/>
          <p:cNvSpPr txBox="true"/>
          <p:nvPr/>
        </p:nvSpPr>
        <p:spPr>
          <a:xfrm rot="0">
            <a:off x="3176103" y="552450"/>
            <a:ext cx="11935794" cy="1162050"/>
          </a:xfrm>
          <a:prstGeom prst="rect">
            <a:avLst/>
          </a:prstGeom>
        </p:spPr>
        <p:txBody>
          <a:bodyPr anchor="t" rtlCol="false" tIns="0" lIns="0" bIns="0" rIns="0">
            <a:spAutoFit/>
          </a:bodyPr>
          <a:lstStyle/>
          <a:p>
            <a:pPr algn="ctr">
              <a:lnSpc>
                <a:spcPts val="8550"/>
              </a:lnSpc>
            </a:pPr>
            <a:r>
              <a:rPr lang="en-US" sz="9000" spc="189">
                <a:solidFill>
                  <a:srgbClr val="FFFAF3"/>
                </a:solidFill>
                <a:latin typeface="Londrina Solid"/>
                <a:ea typeface="Londrina Solid"/>
                <a:cs typeface="Londrina Solid"/>
                <a:sym typeface="Londrina Solid"/>
              </a:rPr>
              <a:t>KERNEL SVM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DBB5"/>
        </a:solidFill>
      </p:bgPr>
    </p:bg>
    <p:spTree>
      <p:nvGrpSpPr>
        <p:cNvPr id="1" name=""/>
        <p:cNvGrpSpPr/>
        <p:nvPr/>
      </p:nvGrpSpPr>
      <p:grpSpPr>
        <a:xfrm>
          <a:off x="0" y="0"/>
          <a:ext cx="0" cy="0"/>
          <a:chOff x="0" y="0"/>
          <a:chExt cx="0" cy="0"/>
        </a:xfrm>
      </p:grpSpPr>
      <p:sp>
        <p:nvSpPr>
          <p:cNvPr name="Freeform 2" id="2"/>
          <p:cNvSpPr/>
          <p:nvPr/>
        </p:nvSpPr>
        <p:spPr>
          <a:xfrm flipH="false" flipV="false" rot="0">
            <a:off x="-2420427" y="6998297"/>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99222" y="-519680"/>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782647">
            <a:off x="-4954822" y="3553273"/>
            <a:ext cx="10839203" cy="2059449"/>
          </a:xfrm>
          <a:custGeom>
            <a:avLst/>
            <a:gdLst/>
            <a:ahLst/>
            <a:cxnLst/>
            <a:rect r="r" b="b" t="t" l="l"/>
            <a:pathLst>
              <a:path h="2059449" w="10839203">
                <a:moveTo>
                  <a:pt x="0" y="0"/>
                </a:moveTo>
                <a:lnTo>
                  <a:pt x="10839202" y="0"/>
                </a:lnTo>
                <a:lnTo>
                  <a:pt x="10839202" y="2059449"/>
                </a:lnTo>
                <a:lnTo>
                  <a:pt x="0" y="2059449"/>
                </a:lnTo>
                <a:lnTo>
                  <a:pt x="0" y="0"/>
                </a:lnTo>
                <a:close/>
              </a:path>
            </a:pathLst>
          </a:custGeom>
          <a:blipFill>
            <a:blip r:embed="rId4"/>
            <a:stretch>
              <a:fillRect l="0" t="0" r="0" b="0"/>
            </a:stretch>
          </a:blipFill>
        </p:spPr>
      </p:sp>
      <p:sp>
        <p:nvSpPr>
          <p:cNvPr name="Freeform 5" id="5"/>
          <p:cNvSpPr/>
          <p:nvPr/>
        </p:nvSpPr>
        <p:spPr>
          <a:xfrm flipH="false" flipV="false" rot="4926390">
            <a:off x="12897607" y="4232484"/>
            <a:ext cx="12460238" cy="2367445"/>
          </a:xfrm>
          <a:custGeom>
            <a:avLst/>
            <a:gdLst/>
            <a:ahLst/>
            <a:cxnLst/>
            <a:rect r="r" b="b" t="t" l="l"/>
            <a:pathLst>
              <a:path h="2367445" w="12460238">
                <a:moveTo>
                  <a:pt x="0" y="0"/>
                </a:moveTo>
                <a:lnTo>
                  <a:pt x="12460238" y="0"/>
                </a:lnTo>
                <a:lnTo>
                  <a:pt x="12460238" y="2367446"/>
                </a:lnTo>
                <a:lnTo>
                  <a:pt x="0" y="2367446"/>
                </a:lnTo>
                <a:lnTo>
                  <a:pt x="0" y="0"/>
                </a:lnTo>
                <a:close/>
              </a:path>
            </a:pathLst>
          </a:custGeom>
          <a:blipFill>
            <a:blip r:embed="rId4"/>
            <a:stretch>
              <a:fillRect l="0" t="0" r="0" b="0"/>
            </a:stretch>
          </a:blipFill>
        </p:spPr>
      </p:sp>
      <p:sp>
        <p:nvSpPr>
          <p:cNvPr name="Freeform 6" id="6"/>
          <p:cNvSpPr/>
          <p:nvPr/>
        </p:nvSpPr>
        <p:spPr>
          <a:xfrm flipH="false" flipV="false" rot="0">
            <a:off x="152766" y="179363"/>
            <a:ext cx="2041151" cy="1911260"/>
          </a:xfrm>
          <a:custGeom>
            <a:avLst/>
            <a:gdLst/>
            <a:ahLst/>
            <a:cxnLst/>
            <a:rect r="r" b="b" t="t" l="l"/>
            <a:pathLst>
              <a:path h="1911260" w="2041151">
                <a:moveTo>
                  <a:pt x="0" y="0"/>
                </a:moveTo>
                <a:lnTo>
                  <a:pt x="2041152" y="0"/>
                </a:lnTo>
                <a:lnTo>
                  <a:pt x="2041152" y="1911260"/>
                </a:lnTo>
                <a:lnTo>
                  <a:pt x="0" y="1911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437247" y="612038"/>
            <a:ext cx="1689965" cy="1582422"/>
          </a:xfrm>
          <a:custGeom>
            <a:avLst/>
            <a:gdLst/>
            <a:ahLst/>
            <a:cxnLst/>
            <a:rect r="r" b="b" t="t" l="l"/>
            <a:pathLst>
              <a:path h="1582422" w="1689965">
                <a:moveTo>
                  <a:pt x="0" y="0"/>
                </a:moveTo>
                <a:lnTo>
                  <a:pt x="1689965" y="0"/>
                </a:lnTo>
                <a:lnTo>
                  <a:pt x="1689965" y="1582422"/>
                </a:lnTo>
                <a:lnTo>
                  <a:pt x="0" y="15824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696954" y="757409"/>
            <a:ext cx="12815450" cy="2166976"/>
          </a:xfrm>
          <a:custGeom>
            <a:avLst/>
            <a:gdLst/>
            <a:ahLst/>
            <a:cxnLst/>
            <a:rect r="r" b="b" t="t" l="l"/>
            <a:pathLst>
              <a:path h="2166976" w="12815450">
                <a:moveTo>
                  <a:pt x="0" y="0"/>
                </a:moveTo>
                <a:lnTo>
                  <a:pt x="12815450" y="0"/>
                </a:lnTo>
                <a:lnTo>
                  <a:pt x="12815450" y="2166976"/>
                </a:lnTo>
                <a:lnTo>
                  <a:pt x="0" y="21669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400000">
            <a:off x="4000666" y="1176264"/>
            <a:ext cx="10286667" cy="14586494"/>
          </a:xfrm>
          <a:custGeom>
            <a:avLst/>
            <a:gdLst/>
            <a:ahLst/>
            <a:cxnLst/>
            <a:rect r="r" b="b" t="t" l="l"/>
            <a:pathLst>
              <a:path h="14586494" w="10286667">
                <a:moveTo>
                  <a:pt x="0" y="0"/>
                </a:moveTo>
                <a:lnTo>
                  <a:pt x="10286668" y="0"/>
                </a:lnTo>
                <a:lnTo>
                  <a:pt x="10286668" y="14586495"/>
                </a:lnTo>
                <a:lnTo>
                  <a:pt x="0" y="1458649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3136782" y="1266825"/>
            <a:ext cx="11935794" cy="1386269"/>
          </a:xfrm>
          <a:prstGeom prst="rect">
            <a:avLst/>
          </a:prstGeom>
        </p:spPr>
        <p:txBody>
          <a:bodyPr anchor="t" rtlCol="false" tIns="0" lIns="0" bIns="0" rIns="0">
            <a:spAutoFit/>
          </a:bodyPr>
          <a:lstStyle/>
          <a:p>
            <a:pPr algn="ctr">
              <a:lnSpc>
                <a:spcPts val="10128"/>
              </a:lnSpc>
            </a:pPr>
            <a:r>
              <a:rPr lang="en-US" b="true" sz="10662" spc="223">
                <a:solidFill>
                  <a:srgbClr val="FFFAF3"/>
                </a:solidFill>
                <a:latin typeface="Londrina Solid Heavy"/>
                <a:ea typeface="Londrina Solid Heavy"/>
                <a:cs typeface="Londrina Solid Heavy"/>
                <a:sym typeface="Londrina Solid Heavy"/>
              </a:rPr>
              <a:t>Hipotesis Function</a:t>
            </a:r>
          </a:p>
        </p:txBody>
      </p:sp>
      <p:sp>
        <p:nvSpPr>
          <p:cNvPr name="TextBox 11" id="11"/>
          <p:cNvSpPr txBox="true"/>
          <p:nvPr/>
        </p:nvSpPr>
        <p:spPr>
          <a:xfrm rot="0">
            <a:off x="3475945" y="3889987"/>
            <a:ext cx="12036458" cy="6197570"/>
          </a:xfrm>
          <a:prstGeom prst="rect">
            <a:avLst/>
          </a:prstGeom>
        </p:spPr>
        <p:txBody>
          <a:bodyPr anchor="t" rtlCol="false" tIns="0" lIns="0" bIns="0" rIns="0">
            <a:spAutoFit/>
          </a:bodyPr>
          <a:lstStyle/>
          <a:p>
            <a:pPr algn="l">
              <a:lnSpc>
                <a:spcPts val="3785"/>
              </a:lnSpc>
            </a:pPr>
            <a:r>
              <a:rPr lang="en-US" sz="3004" b="true">
                <a:solidFill>
                  <a:srgbClr val="000000"/>
                </a:solidFill>
                <a:latin typeface="DG Jory Bold"/>
                <a:ea typeface="DG Jory Bold"/>
                <a:cs typeface="DG Jory Bold"/>
                <a:sym typeface="DG Jory Bold"/>
              </a:rPr>
              <a:t>Pada Support Vector Machine (SVM), fungsi hipotesis digunakan untuk menentukan di sisi mana sebuah data berada terhadap sebuah garis pemisah (hyperplane).</a:t>
            </a:r>
          </a:p>
          <a:p>
            <a:pPr algn="l">
              <a:lnSpc>
                <a:spcPts val="3785"/>
              </a:lnSpc>
              <a:spcBef>
                <a:spcPct val="0"/>
              </a:spcBef>
            </a:pPr>
            <a:r>
              <a:rPr lang="en-US" b="true" sz="3004">
                <a:solidFill>
                  <a:srgbClr val="000000"/>
                </a:solidFill>
                <a:latin typeface="DG Jory Bold"/>
                <a:ea typeface="DG Jory Bold"/>
                <a:cs typeface="DG Jory Bold"/>
                <a:sym typeface="DG Jory Bold"/>
              </a:rPr>
              <a:t>SVM menggunakan fungsi hipotesis berbentuk linear:</a:t>
            </a:r>
          </a:p>
          <a:p>
            <a:pPr algn="l">
              <a:lnSpc>
                <a:spcPts val="3785"/>
              </a:lnSpc>
              <a:spcBef>
                <a:spcPct val="0"/>
              </a:spcBef>
            </a:pPr>
            <a:r>
              <a:rPr lang="en-US" b="true" sz="3004">
                <a:solidFill>
                  <a:srgbClr val="000000"/>
                </a:solidFill>
                <a:latin typeface="DG Jory Bold"/>
                <a:ea typeface="DG Jory Bold"/>
                <a:cs typeface="DG Jory Bold"/>
                <a:sym typeface="DG Jory Bold"/>
              </a:rPr>
              <a:t>h(x) = wᵀx + b</a:t>
            </a:r>
          </a:p>
          <a:p>
            <a:pPr algn="l">
              <a:lnSpc>
                <a:spcPts val="3785"/>
              </a:lnSpc>
              <a:spcBef>
                <a:spcPct val="0"/>
              </a:spcBef>
            </a:pPr>
            <a:r>
              <a:rPr lang="en-US" b="true" sz="3004">
                <a:solidFill>
                  <a:srgbClr val="000000"/>
                </a:solidFill>
                <a:latin typeface="DG Jory Bold"/>
                <a:ea typeface="DG Jory Bold"/>
                <a:cs typeface="DG Jory Bold"/>
                <a:sym typeface="DG Jory Bold"/>
              </a:rPr>
              <a:t>Di mana:</a:t>
            </a:r>
          </a:p>
          <a:p>
            <a:pPr algn="l" marL="648706" indent="-324353" lvl="1">
              <a:lnSpc>
                <a:spcPts val="3785"/>
              </a:lnSpc>
              <a:spcBef>
                <a:spcPct val="0"/>
              </a:spcBef>
              <a:buFont typeface="Arial"/>
              <a:buChar char="•"/>
            </a:pPr>
            <a:r>
              <a:rPr lang="en-US" b="true" sz="3004">
                <a:solidFill>
                  <a:srgbClr val="000000"/>
                </a:solidFill>
                <a:latin typeface="DG Jory Bold"/>
                <a:ea typeface="DG Jory Bold"/>
                <a:cs typeface="DG Jory Bold"/>
                <a:sym typeface="DG Jory Bold"/>
              </a:rPr>
              <a:t>w = vektor bobot</a:t>
            </a:r>
          </a:p>
          <a:p>
            <a:pPr algn="l" marL="648706" indent="-324353" lvl="1">
              <a:lnSpc>
                <a:spcPts val="3785"/>
              </a:lnSpc>
              <a:spcBef>
                <a:spcPct val="0"/>
              </a:spcBef>
              <a:buFont typeface="Arial"/>
              <a:buChar char="•"/>
            </a:pPr>
            <a:r>
              <a:rPr lang="en-US" b="true" sz="3004">
                <a:solidFill>
                  <a:srgbClr val="000000"/>
                </a:solidFill>
                <a:latin typeface="DG Jory Bold"/>
                <a:ea typeface="DG Jory Bold"/>
                <a:cs typeface="DG Jory Bold"/>
                <a:sym typeface="DG Jory Bold"/>
              </a:rPr>
              <a:t>x = fitur input</a:t>
            </a:r>
          </a:p>
          <a:p>
            <a:pPr algn="l" marL="648706" indent="-324353" lvl="1">
              <a:lnSpc>
                <a:spcPts val="3785"/>
              </a:lnSpc>
              <a:spcBef>
                <a:spcPct val="0"/>
              </a:spcBef>
              <a:buFont typeface="Arial"/>
              <a:buChar char="•"/>
            </a:pPr>
            <a:r>
              <a:rPr lang="en-US" b="true" sz="3004">
                <a:solidFill>
                  <a:srgbClr val="000000"/>
                </a:solidFill>
                <a:latin typeface="DG Jory Bold"/>
                <a:ea typeface="DG Jory Bold"/>
                <a:cs typeface="DG Jory Bold"/>
                <a:sym typeface="DG Jory Bold"/>
              </a:rPr>
              <a:t>b = bias</a:t>
            </a:r>
          </a:p>
          <a:p>
            <a:pPr algn="l" marL="648706" indent="-324353" lvl="1">
              <a:lnSpc>
                <a:spcPts val="3785"/>
              </a:lnSpc>
              <a:spcBef>
                <a:spcPct val="0"/>
              </a:spcBef>
              <a:buFont typeface="Arial"/>
              <a:buChar char="•"/>
            </a:pPr>
            <a:r>
              <a:rPr lang="en-US" b="true" sz="3004">
                <a:solidFill>
                  <a:srgbClr val="000000"/>
                </a:solidFill>
                <a:latin typeface="DG Jory Bold"/>
                <a:ea typeface="DG Jory Bold"/>
                <a:cs typeface="DG Jory Bold"/>
                <a:sym typeface="DG Jory Bold"/>
              </a:rPr>
              <a:t>Sinyal klasifikasi:</a:t>
            </a:r>
          </a:p>
          <a:p>
            <a:pPr algn="l" marL="1297412" indent="-432471" lvl="2">
              <a:lnSpc>
                <a:spcPts val="3785"/>
              </a:lnSpc>
              <a:spcBef>
                <a:spcPct val="0"/>
              </a:spcBef>
              <a:buFont typeface="Arial"/>
              <a:buChar char="⚬"/>
            </a:pPr>
            <a:r>
              <a:rPr lang="en-US" b="true" sz="3004">
                <a:solidFill>
                  <a:srgbClr val="000000"/>
                </a:solidFill>
                <a:latin typeface="DG Jory Bold"/>
                <a:ea typeface="DG Jory Bold"/>
                <a:cs typeface="DG Jory Bold"/>
                <a:sym typeface="DG Jory Bold"/>
              </a:rPr>
              <a:t>Jika h(x) ≥ 0 → kelas +1</a:t>
            </a:r>
          </a:p>
          <a:p>
            <a:pPr algn="l" marL="1297412" indent="-432471" lvl="2">
              <a:lnSpc>
                <a:spcPts val="3785"/>
              </a:lnSpc>
              <a:spcBef>
                <a:spcPct val="0"/>
              </a:spcBef>
              <a:buFont typeface="Arial"/>
              <a:buChar char="⚬"/>
            </a:pPr>
            <a:r>
              <a:rPr lang="en-US" b="true" sz="3004">
                <a:solidFill>
                  <a:srgbClr val="000000"/>
                </a:solidFill>
                <a:latin typeface="DG Jory Bold"/>
                <a:ea typeface="DG Jory Bold"/>
                <a:cs typeface="DG Jory Bold"/>
                <a:sym typeface="DG Jory Bold"/>
              </a:rPr>
              <a:t>Jika h(x) &lt; 0 → kelas -1</a:t>
            </a:r>
          </a:p>
          <a:p>
            <a:pPr algn="ctr">
              <a:lnSpc>
                <a:spcPts val="3785"/>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F3"/>
        </a:solidFill>
      </p:bgPr>
    </p:bg>
    <p:spTree>
      <p:nvGrpSpPr>
        <p:cNvPr id="1" name=""/>
        <p:cNvGrpSpPr/>
        <p:nvPr/>
      </p:nvGrpSpPr>
      <p:grpSpPr>
        <a:xfrm>
          <a:off x="0" y="0"/>
          <a:ext cx="0" cy="0"/>
          <a:chOff x="0" y="0"/>
          <a:chExt cx="0" cy="0"/>
        </a:xfrm>
      </p:grpSpPr>
      <p:sp>
        <p:nvSpPr>
          <p:cNvPr name="Freeform 2" id="2"/>
          <p:cNvSpPr/>
          <p:nvPr/>
        </p:nvSpPr>
        <p:spPr>
          <a:xfrm flipH="false" flipV="false" rot="5782647">
            <a:off x="-4472313"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2"/>
            <a:stretch>
              <a:fillRect l="0" t="0" r="0" b="0"/>
            </a:stretch>
          </a:blipFill>
        </p:spPr>
      </p:sp>
      <p:sp>
        <p:nvSpPr>
          <p:cNvPr name="Freeform 3" id="3"/>
          <p:cNvSpPr/>
          <p:nvPr/>
        </p:nvSpPr>
        <p:spPr>
          <a:xfrm flipH="false" flipV="false" rot="5782647">
            <a:off x="12376563"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2"/>
            <a:stretch>
              <a:fillRect l="0" t="0" r="0" b="0"/>
            </a:stretch>
          </a:blipFill>
        </p:spPr>
      </p:sp>
      <p:sp>
        <p:nvSpPr>
          <p:cNvPr name="Freeform 4" id="4"/>
          <p:cNvSpPr/>
          <p:nvPr/>
        </p:nvSpPr>
        <p:spPr>
          <a:xfrm flipH="false" flipV="false" rot="0">
            <a:off x="3136782" y="433559"/>
            <a:ext cx="11803223" cy="1995818"/>
          </a:xfrm>
          <a:custGeom>
            <a:avLst/>
            <a:gdLst/>
            <a:ahLst/>
            <a:cxnLst/>
            <a:rect r="r" b="b" t="t" l="l"/>
            <a:pathLst>
              <a:path h="1995818" w="11803223">
                <a:moveTo>
                  <a:pt x="0" y="0"/>
                </a:moveTo>
                <a:lnTo>
                  <a:pt x="11803223" y="0"/>
                </a:lnTo>
                <a:lnTo>
                  <a:pt x="11803223" y="1995817"/>
                </a:lnTo>
                <a:lnTo>
                  <a:pt x="0" y="19958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03411" y="3524362"/>
            <a:ext cx="1519517" cy="1422821"/>
          </a:xfrm>
          <a:custGeom>
            <a:avLst/>
            <a:gdLst/>
            <a:ahLst/>
            <a:cxnLst/>
            <a:rect r="r" b="b" t="t" l="l"/>
            <a:pathLst>
              <a:path h="1422821" w="1519517">
                <a:moveTo>
                  <a:pt x="0" y="0"/>
                </a:moveTo>
                <a:lnTo>
                  <a:pt x="1519517" y="0"/>
                </a:lnTo>
                <a:lnTo>
                  <a:pt x="1519517" y="1422821"/>
                </a:lnTo>
                <a:lnTo>
                  <a:pt x="0" y="14228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880745" y="2501101"/>
            <a:ext cx="14191516" cy="3287089"/>
          </a:xfrm>
          <a:prstGeom prst="rect">
            <a:avLst/>
          </a:prstGeom>
        </p:spPr>
        <p:txBody>
          <a:bodyPr anchor="t" rtlCol="false" tIns="0" lIns="0" bIns="0" rIns="0">
            <a:spAutoFit/>
          </a:bodyPr>
          <a:lstStyle/>
          <a:p>
            <a:pPr algn="l">
              <a:lnSpc>
                <a:spcPts val="3700"/>
              </a:lnSpc>
            </a:pPr>
            <a:r>
              <a:rPr lang="en-US" sz="2936">
                <a:solidFill>
                  <a:srgbClr val="643F07"/>
                </a:solidFill>
                <a:latin typeface="DG Jory"/>
                <a:ea typeface="DG Jory"/>
                <a:cs typeface="DG Jory"/>
                <a:sym typeface="DG Jory"/>
              </a:rPr>
              <a:t>Cost function pada SVM bertujuan mencari hyperplane terbaik yang memaksimalkan margin, yaitu jarak antara hyperplane dengan support vector terdekat.</a:t>
            </a:r>
          </a:p>
          <a:p>
            <a:pPr algn="l">
              <a:lnSpc>
                <a:spcPts val="3700"/>
              </a:lnSpc>
            </a:pPr>
            <a:r>
              <a:rPr lang="en-US" sz="2936">
                <a:solidFill>
                  <a:srgbClr val="643F07"/>
                </a:solidFill>
                <a:latin typeface="DG Jory"/>
                <a:ea typeface="DG Jory"/>
                <a:cs typeface="DG Jory"/>
                <a:sym typeface="DG Jory"/>
              </a:rPr>
              <a:t>T</a:t>
            </a:r>
            <a:r>
              <a:rPr lang="en-US" sz="2936">
                <a:solidFill>
                  <a:srgbClr val="643F07"/>
                </a:solidFill>
                <a:latin typeface="DG Jory"/>
                <a:ea typeface="DG Jory"/>
                <a:cs typeface="DG Jory"/>
                <a:sym typeface="DG Jory"/>
              </a:rPr>
              <a:t>ujuan Cost Function SVM</a:t>
            </a:r>
          </a:p>
          <a:p>
            <a:pPr algn="l" marL="634005" indent="-317003" lvl="1">
              <a:lnSpc>
                <a:spcPts val="3700"/>
              </a:lnSpc>
              <a:buFont typeface="Arial"/>
              <a:buChar char="•"/>
            </a:pPr>
            <a:r>
              <a:rPr lang="en-US" sz="2936">
                <a:solidFill>
                  <a:srgbClr val="643F07"/>
                </a:solidFill>
                <a:latin typeface="DG Jory"/>
                <a:ea typeface="DG Jory"/>
                <a:cs typeface="DG Jory"/>
                <a:sym typeface="DG Jory"/>
              </a:rPr>
              <a:t>Memperbesar margin hyperplane</a:t>
            </a:r>
          </a:p>
          <a:p>
            <a:pPr algn="l" marL="634005" indent="-317003" lvl="1">
              <a:lnSpc>
                <a:spcPts val="3700"/>
              </a:lnSpc>
              <a:buFont typeface="Arial"/>
              <a:buChar char="•"/>
            </a:pPr>
            <a:r>
              <a:rPr lang="en-US" sz="2936">
                <a:solidFill>
                  <a:srgbClr val="643F07"/>
                </a:solidFill>
                <a:latin typeface="DG Jory"/>
                <a:ea typeface="DG Jory"/>
                <a:cs typeface="DG Jory"/>
                <a:sym typeface="DG Jory"/>
              </a:rPr>
              <a:t>Mengurangi kesalahan klasifikasi</a:t>
            </a:r>
          </a:p>
          <a:p>
            <a:pPr algn="l" marL="634005" indent="-317003" lvl="1">
              <a:lnSpc>
                <a:spcPts val="3700"/>
              </a:lnSpc>
              <a:buFont typeface="Arial"/>
              <a:buChar char="•"/>
            </a:pPr>
            <a:r>
              <a:rPr lang="en-US" sz="2936">
                <a:solidFill>
                  <a:srgbClr val="643F07"/>
                </a:solidFill>
                <a:latin typeface="DG Jory"/>
                <a:ea typeface="DG Jory"/>
                <a:cs typeface="DG Jory"/>
                <a:sym typeface="DG Jory"/>
              </a:rPr>
              <a:t>Menyeimbangkan antara “model ketat” dan “model fleksibel”</a:t>
            </a:r>
          </a:p>
          <a:p>
            <a:pPr algn="l">
              <a:lnSpc>
                <a:spcPts val="3700"/>
              </a:lnSpc>
            </a:pPr>
          </a:p>
        </p:txBody>
      </p:sp>
      <p:sp>
        <p:nvSpPr>
          <p:cNvPr name="Freeform 7" id="7"/>
          <p:cNvSpPr/>
          <p:nvPr/>
        </p:nvSpPr>
        <p:spPr>
          <a:xfrm flipH="false" flipV="false" rot="0">
            <a:off x="-3342447" y="5143500"/>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7639832" y="-612000"/>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804635" y="5888490"/>
            <a:ext cx="8956110" cy="3414517"/>
          </a:xfrm>
          <a:custGeom>
            <a:avLst/>
            <a:gdLst/>
            <a:ahLst/>
            <a:cxnLst/>
            <a:rect r="r" b="b" t="t" l="l"/>
            <a:pathLst>
              <a:path h="3414517" w="8956110">
                <a:moveTo>
                  <a:pt x="0" y="0"/>
                </a:moveTo>
                <a:lnTo>
                  <a:pt x="8956110" y="0"/>
                </a:lnTo>
                <a:lnTo>
                  <a:pt x="8956110" y="3414517"/>
                </a:lnTo>
                <a:lnTo>
                  <a:pt x="0" y="3414517"/>
                </a:lnTo>
                <a:lnTo>
                  <a:pt x="0" y="0"/>
                </a:lnTo>
                <a:close/>
              </a:path>
            </a:pathLst>
          </a:custGeom>
          <a:blipFill>
            <a:blip r:embed="rId9"/>
            <a:stretch>
              <a:fillRect l="0" t="0" r="0" b="0"/>
            </a:stretch>
          </a:blipFill>
        </p:spPr>
      </p:sp>
      <p:sp>
        <p:nvSpPr>
          <p:cNvPr name="TextBox 10" id="10"/>
          <p:cNvSpPr txBox="true"/>
          <p:nvPr/>
        </p:nvSpPr>
        <p:spPr>
          <a:xfrm rot="0">
            <a:off x="3136782" y="870086"/>
            <a:ext cx="11935794" cy="1386269"/>
          </a:xfrm>
          <a:prstGeom prst="rect">
            <a:avLst/>
          </a:prstGeom>
        </p:spPr>
        <p:txBody>
          <a:bodyPr anchor="t" rtlCol="false" tIns="0" lIns="0" bIns="0" rIns="0">
            <a:spAutoFit/>
          </a:bodyPr>
          <a:lstStyle/>
          <a:p>
            <a:pPr algn="ctr">
              <a:lnSpc>
                <a:spcPts val="10128"/>
              </a:lnSpc>
            </a:pPr>
            <a:r>
              <a:rPr lang="en-US" b="true" sz="10662" spc="223">
                <a:solidFill>
                  <a:srgbClr val="FFFAF3"/>
                </a:solidFill>
                <a:latin typeface="Londrina Solid Heavy"/>
                <a:ea typeface="Londrina Solid Heavy"/>
                <a:cs typeface="Londrina Solid Heavy"/>
                <a:sym typeface="Londrina Solid Heavy"/>
              </a:rPr>
              <a:t>Cost Function</a:t>
            </a:r>
          </a:p>
        </p:txBody>
      </p:sp>
      <p:sp>
        <p:nvSpPr>
          <p:cNvPr name="TextBox 11" id="11"/>
          <p:cNvSpPr txBox="true"/>
          <p:nvPr/>
        </p:nvSpPr>
        <p:spPr>
          <a:xfrm rot="0">
            <a:off x="10344292" y="6107267"/>
            <a:ext cx="7600598" cy="2284290"/>
          </a:xfrm>
          <a:prstGeom prst="rect">
            <a:avLst/>
          </a:prstGeom>
        </p:spPr>
        <p:txBody>
          <a:bodyPr anchor="t" rtlCol="false" tIns="0" lIns="0" bIns="0" rIns="0">
            <a:spAutoFit/>
          </a:bodyPr>
          <a:lstStyle/>
          <a:p>
            <a:pPr algn="ctr">
              <a:lnSpc>
                <a:spcPts val="3619"/>
              </a:lnSpc>
              <a:spcBef>
                <a:spcPct val="0"/>
              </a:spcBef>
            </a:pPr>
            <a:r>
              <a:rPr lang="en-US" sz="2585" spc="54">
                <a:solidFill>
                  <a:srgbClr val="000000"/>
                </a:solidFill>
                <a:latin typeface="DG Jory"/>
                <a:ea typeface="DG Jory"/>
                <a:cs typeface="DG Jory"/>
                <a:sym typeface="DG Jory"/>
              </a:rPr>
              <a:t>Keterangan:</a:t>
            </a:r>
          </a:p>
          <a:p>
            <a:pPr algn="ctr">
              <a:lnSpc>
                <a:spcPts val="3619"/>
              </a:lnSpc>
              <a:spcBef>
                <a:spcPct val="0"/>
              </a:spcBef>
            </a:pPr>
            <a:r>
              <a:rPr lang="en-US" sz="2585" spc="54">
                <a:solidFill>
                  <a:srgbClr val="000000"/>
                </a:solidFill>
                <a:latin typeface="DG Jory"/>
                <a:ea typeface="DG Jory"/>
                <a:cs typeface="DG Jory"/>
                <a:sym typeface="DG Jory"/>
              </a:rPr>
              <a:t>ξᵢ (xi) = slack variable untuk data yang salah klasifikasi</a:t>
            </a:r>
          </a:p>
          <a:p>
            <a:pPr algn="ctr">
              <a:lnSpc>
                <a:spcPts val="3619"/>
              </a:lnSpc>
              <a:spcBef>
                <a:spcPct val="0"/>
              </a:spcBef>
            </a:pPr>
            <a:r>
              <a:rPr lang="en-US" sz="2585" spc="54">
                <a:solidFill>
                  <a:srgbClr val="000000"/>
                </a:solidFill>
                <a:latin typeface="DG Jory"/>
                <a:ea typeface="DG Jory"/>
                <a:cs typeface="DG Jory"/>
                <a:sym typeface="DG Jory"/>
              </a:rPr>
              <a:t>C = parameter regularisasi</a:t>
            </a:r>
          </a:p>
          <a:p>
            <a:pPr algn="ctr">
              <a:lnSpc>
                <a:spcPts val="3619"/>
              </a:lnSpc>
              <a:spcBef>
                <a:spcPct val="0"/>
              </a:spcBef>
            </a:pPr>
            <a:r>
              <a:rPr lang="en-US" sz="2585" spc="54">
                <a:solidFill>
                  <a:srgbClr val="000000"/>
                </a:solidFill>
                <a:latin typeface="DG Jory"/>
                <a:ea typeface="DG Jory"/>
                <a:cs typeface="DG Jory"/>
                <a:sym typeface="DG Jory"/>
              </a:rPr>
              <a:t>C besar → penalti tinggi → model kaku</a:t>
            </a:r>
          </a:p>
          <a:p>
            <a:pPr algn="ctr">
              <a:lnSpc>
                <a:spcPts val="3619"/>
              </a:lnSpc>
              <a:spcBef>
                <a:spcPct val="0"/>
              </a:spcBef>
            </a:pPr>
            <a:r>
              <a:rPr lang="en-US" sz="2585" spc="54">
                <a:solidFill>
                  <a:srgbClr val="000000"/>
                </a:solidFill>
                <a:latin typeface="DG Jory"/>
                <a:ea typeface="DG Jory"/>
                <a:cs typeface="DG Jory"/>
                <a:sym typeface="DG Jory"/>
              </a:rPr>
              <a:t>C kecil → margin lebih fleksibel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AF3"/>
        </a:solidFill>
      </p:bgPr>
    </p:bg>
    <p:spTree>
      <p:nvGrpSpPr>
        <p:cNvPr id="1" name=""/>
        <p:cNvGrpSpPr/>
        <p:nvPr/>
      </p:nvGrpSpPr>
      <p:grpSpPr>
        <a:xfrm>
          <a:off x="0" y="0"/>
          <a:ext cx="0" cy="0"/>
          <a:chOff x="0" y="0"/>
          <a:chExt cx="0" cy="0"/>
        </a:xfrm>
      </p:grpSpPr>
      <p:sp>
        <p:nvSpPr>
          <p:cNvPr name="Freeform 2" id="2"/>
          <p:cNvSpPr/>
          <p:nvPr/>
        </p:nvSpPr>
        <p:spPr>
          <a:xfrm flipH="false" flipV="false" rot="5493214">
            <a:off x="-4785090" y="3179085"/>
            <a:ext cx="10839203" cy="2059449"/>
          </a:xfrm>
          <a:custGeom>
            <a:avLst/>
            <a:gdLst/>
            <a:ahLst/>
            <a:cxnLst/>
            <a:rect r="r" b="b" t="t" l="l"/>
            <a:pathLst>
              <a:path h="2059449" w="10839203">
                <a:moveTo>
                  <a:pt x="0" y="0"/>
                </a:moveTo>
                <a:lnTo>
                  <a:pt x="10839203" y="0"/>
                </a:lnTo>
                <a:lnTo>
                  <a:pt x="10839203" y="2059449"/>
                </a:lnTo>
                <a:lnTo>
                  <a:pt x="0" y="2059449"/>
                </a:lnTo>
                <a:lnTo>
                  <a:pt x="0" y="0"/>
                </a:lnTo>
                <a:close/>
              </a:path>
            </a:pathLst>
          </a:custGeom>
          <a:blipFill>
            <a:blip r:embed="rId2"/>
            <a:stretch>
              <a:fillRect l="0" t="0" r="0" b="0"/>
            </a:stretch>
          </a:blipFill>
        </p:spPr>
      </p:sp>
      <p:sp>
        <p:nvSpPr>
          <p:cNvPr name="Freeform 3" id="3"/>
          <p:cNvSpPr/>
          <p:nvPr/>
        </p:nvSpPr>
        <p:spPr>
          <a:xfrm flipH="false" flipV="false" rot="-302207">
            <a:off x="17592844" y="-301421"/>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782647">
            <a:off x="-4134981"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2"/>
            <a:stretch>
              <a:fillRect l="0" t="0" r="0" b="0"/>
            </a:stretch>
          </a:blipFill>
        </p:spPr>
      </p:sp>
      <p:sp>
        <p:nvSpPr>
          <p:cNvPr name="Freeform 5" id="5"/>
          <p:cNvSpPr/>
          <p:nvPr/>
        </p:nvSpPr>
        <p:spPr>
          <a:xfrm flipH="false" flipV="false" rot="5782647">
            <a:off x="12522590"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2"/>
            <a:stretch>
              <a:fillRect l="0" t="0" r="0" b="0"/>
            </a:stretch>
          </a:blipFill>
        </p:spPr>
      </p:sp>
      <p:sp>
        <p:nvSpPr>
          <p:cNvPr name="Freeform 6" id="6"/>
          <p:cNvSpPr/>
          <p:nvPr/>
        </p:nvSpPr>
        <p:spPr>
          <a:xfrm flipH="false" flipV="false" rot="0">
            <a:off x="2696954" y="757409"/>
            <a:ext cx="12815450" cy="2166976"/>
          </a:xfrm>
          <a:custGeom>
            <a:avLst/>
            <a:gdLst/>
            <a:ahLst/>
            <a:cxnLst/>
            <a:rect r="r" b="b" t="t" l="l"/>
            <a:pathLst>
              <a:path h="2166976" w="12815450">
                <a:moveTo>
                  <a:pt x="0" y="0"/>
                </a:moveTo>
                <a:lnTo>
                  <a:pt x="12815450" y="0"/>
                </a:lnTo>
                <a:lnTo>
                  <a:pt x="12815450" y="2166976"/>
                </a:lnTo>
                <a:lnTo>
                  <a:pt x="0" y="21669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634512" y="198688"/>
            <a:ext cx="1519517" cy="1422821"/>
          </a:xfrm>
          <a:custGeom>
            <a:avLst/>
            <a:gdLst/>
            <a:ahLst/>
            <a:cxnLst/>
            <a:rect r="r" b="b" t="t" l="l"/>
            <a:pathLst>
              <a:path h="1422821" w="1519517">
                <a:moveTo>
                  <a:pt x="0" y="0"/>
                </a:moveTo>
                <a:lnTo>
                  <a:pt x="1519517" y="0"/>
                </a:lnTo>
                <a:lnTo>
                  <a:pt x="1519517" y="1422820"/>
                </a:lnTo>
                <a:lnTo>
                  <a:pt x="0" y="142282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6457077" y="8467089"/>
            <a:ext cx="1689965" cy="1582422"/>
          </a:xfrm>
          <a:custGeom>
            <a:avLst/>
            <a:gdLst/>
            <a:ahLst/>
            <a:cxnLst/>
            <a:rect r="r" b="b" t="t" l="l"/>
            <a:pathLst>
              <a:path h="1582422" w="1689965">
                <a:moveTo>
                  <a:pt x="0" y="0"/>
                </a:moveTo>
                <a:lnTo>
                  <a:pt x="1689966" y="0"/>
                </a:lnTo>
                <a:lnTo>
                  <a:pt x="1689966" y="1582422"/>
                </a:lnTo>
                <a:lnTo>
                  <a:pt x="0" y="15824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136782" y="1266825"/>
            <a:ext cx="11935794" cy="1386269"/>
          </a:xfrm>
          <a:prstGeom prst="rect">
            <a:avLst/>
          </a:prstGeom>
        </p:spPr>
        <p:txBody>
          <a:bodyPr anchor="t" rtlCol="false" tIns="0" lIns="0" bIns="0" rIns="0">
            <a:spAutoFit/>
          </a:bodyPr>
          <a:lstStyle/>
          <a:p>
            <a:pPr algn="ctr">
              <a:lnSpc>
                <a:spcPts val="10128"/>
              </a:lnSpc>
            </a:pPr>
            <a:r>
              <a:rPr lang="en-US" sz="10662" spc="223">
                <a:solidFill>
                  <a:srgbClr val="FFFAF3"/>
                </a:solidFill>
                <a:latin typeface="Londrina Solid"/>
                <a:ea typeface="Londrina Solid"/>
                <a:cs typeface="Londrina Solid"/>
                <a:sym typeface="Londrina Solid"/>
              </a:rPr>
              <a:t>Studi Kasus</a:t>
            </a:r>
          </a:p>
        </p:txBody>
      </p:sp>
      <p:sp>
        <p:nvSpPr>
          <p:cNvPr name="TextBox 10" id="10"/>
          <p:cNvSpPr txBox="true"/>
          <p:nvPr/>
        </p:nvSpPr>
        <p:spPr>
          <a:xfrm rot="0">
            <a:off x="2762744" y="2895810"/>
            <a:ext cx="13302897" cy="2877693"/>
          </a:xfrm>
          <a:prstGeom prst="rect">
            <a:avLst/>
          </a:prstGeom>
        </p:spPr>
        <p:txBody>
          <a:bodyPr anchor="t" rtlCol="false" tIns="0" lIns="0" bIns="0" rIns="0">
            <a:spAutoFit/>
          </a:bodyPr>
          <a:lstStyle/>
          <a:p>
            <a:pPr algn="l">
              <a:lnSpc>
                <a:spcPts val="4661"/>
              </a:lnSpc>
            </a:pPr>
            <a:r>
              <a:rPr lang="en-US" sz="3699" b="true">
                <a:solidFill>
                  <a:srgbClr val="643F07"/>
                </a:solidFill>
                <a:latin typeface="DG Jory Bold"/>
                <a:ea typeface="DG Jory Bold"/>
                <a:cs typeface="DG Jory Bold"/>
                <a:sym typeface="DG Jory Bold"/>
              </a:rPr>
              <a:t>Studi Kasus:</a:t>
            </a:r>
            <a:r>
              <a:rPr lang="en-US" sz="3699">
                <a:solidFill>
                  <a:srgbClr val="643F07"/>
                </a:solidFill>
                <a:latin typeface="DG Jory"/>
                <a:ea typeface="DG Jory"/>
                <a:cs typeface="DG Jory"/>
                <a:sym typeface="DG Jory"/>
              </a:rPr>
              <a:t> Pemisahan Kategori Diabetes Berdasarkan Nilai BMI Menggunakan Model Linear</a:t>
            </a:r>
          </a:p>
          <a:p>
            <a:pPr algn="l">
              <a:lnSpc>
                <a:spcPts val="4661"/>
              </a:lnSpc>
            </a:pPr>
            <a:r>
              <a:rPr lang="en-US" sz="3699" b="true">
                <a:solidFill>
                  <a:srgbClr val="643F07"/>
                </a:solidFill>
                <a:latin typeface="DG Jory Bold"/>
                <a:ea typeface="DG Jory Bold"/>
                <a:cs typeface="DG Jory Bold"/>
                <a:sym typeface="DG Jory Bold"/>
              </a:rPr>
              <a:t>Tujuan studi kasus:</a:t>
            </a:r>
          </a:p>
          <a:p>
            <a:pPr algn="l">
              <a:lnSpc>
                <a:spcPts val="4410"/>
              </a:lnSpc>
            </a:pPr>
            <a:r>
              <a:rPr lang="en-US" sz="3500">
                <a:solidFill>
                  <a:srgbClr val="643F07"/>
                </a:solidFill>
                <a:latin typeface="DG Jory"/>
                <a:ea typeface="DG Jory"/>
                <a:cs typeface="DG Jory"/>
                <a:sym typeface="DG Jory"/>
              </a:rPr>
              <a:t> Apakah dua fitur ini cukup untuk memisahkan kelas diabetes dan tidak diabetes?</a:t>
            </a:r>
          </a:p>
        </p:txBody>
      </p:sp>
      <p:sp>
        <p:nvSpPr>
          <p:cNvPr name="TextBox 11" id="11"/>
          <p:cNvSpPr txBox="true"/>
          <p:nvPr/>
        </p:nvSpPr>
        <p:spPr>
          <a:xfrm rot="0">
            <a:off x="2762744" y="5741399"/>
            <a:ext cx="9296052" cy="3702050"/>
          </a:xfrm>
          <a:prstGeom prst="rect">
            <a:avLst/>
          </a:prstGeom>
        </p:spPr>
        <p:txBody>
          <a:bodyPr anchor="t" rtlCol="false" tIns="0" lIns="0" bIns="0" rIns="0">
            <a:spAutoFit/>
          </a:bodyPr>
          <a:lstStyle/>
          <a:p>
            <a:pPr algn="l">
              <a:lnSpc>
                <a:spcPts val="4900"/>
              </a:lnSpc>
            </a:pPr>
            <a:r>
              <a:rPr lang="en-US" sz="3500" spc="73">
                <a:solidFill>
                  <a:srgbClr val="000000"/>
                </a:solidFill>
                <a:latin typeface="DG Jory"/>
                <a:ea typeface="DG Jory"/>
                <a:cs typeface="DG Jory"/>
                <a:sym typeface="DG Jory"/>
              </a:rPr>
              <a:t>Dataset berisi 10 pasien</a:t>
            </a:r>
          </a:p>
          <a:p>
            <a:pPr algn="l">
              <a:lnSpc>
                <a:spcPts val="4900"/>
              </a:lnSpc>
              <a:spcBef>
                <a:spcPct val="0"/>
              </a:spcBef>
            </a:pPr>
            <a:r>
              <a:rPr lang="en-US" sz="3500" spc="73">
                <a:solidFill>
                  <a:srgbClr val="000000"/>
                </a:solidFill>
                <a:latin typeface="DG Jory"/>
                <a:ea typeface="DG Jory"/>
                <a:cs typeface="DG Jory"/>
                <a:sym typeface="DG Jory"/>
              </a:rPr>
              <a:t>Fitur yang digunakan:</a:t>
            </a:r>
          </a:p>
          <a:p>
            <a:pPr algn="l" marL="755651" indent="-377825" lvl="1">
              <a:lnSpc>
                <a:spcPts val="4900"/>
              </a:lnSpc>
              <a:spcBef>
                <a:spcPct val="0"/>
              </a:spcBef>
              <a:buFont typeface="Arial"/>
              <a:buChar char="•"/>
            </a:pPr>
            <a:r>
              <a:rPr lang="en-US" sz="3500" spc="73">
                <a:solidFill>
                  <a:srgbClr val="000000"/>
                </a:solidFill>
                <a:latin typeface="DG Jory"/>
                <a:ea typeface="DG Jory"/>
                <a:cs typeface="DG Jory"/>
                <a:sym typeface="DG Jory"/>
              </a:rPr>
              <a:t>Glucose -&gt; var numerik</a:t>
            </a:r>
          </a:p>
          <a:p>
            <a:pPr algn="l" marL="755651" indent="-377825" lvl="1">
              <a:lnSpc>
                <a:spcPts val="4900"/>
              </a:lnSpc>
              <a:spcBef>
                <a:spcPct val="0"/>
              </a:spcBef>
              <a:buFont typeface="Arial"/>
              <a:buChar char="•"/>
            </a:pPr>
            <a:r>
              <a:rPr lang="en-US" sz="3500" spc="73">
                <a:solidFill>
                  <a:srgbClr val="000000"/>
                </a:solidFill>
                <a:latin typeface="DG Jory"/>
                <a:ea typeface="DG Jory"/>
                <a:cs typeface="DG Jory"/>
                <a:sym typeface="DG Jory"/>
              </a:rPr>
              <a:t>BMI -&gt; var numerik</a:t>
            </a:r>
          </a:p>
          <a:p>
            <a:pPr algn="l">
              <a:lnSpc>
                <a:spcPts val="4900"/>
              </a:lnSpc>
              <a:spcBef>
                <a:spcPct val="0"/>
              </a:spcBef>
            </a:pPr>
            <a:r>
              <a:rPr lang="en-US" sz="3500" spc="73">
                <a:solidFill>
                  <a:srgbClr val="000000"/>
                </a:solidFill>
                <a:latin typeface="DG Jory"/>
                <a:ea typeface="DG Jory"/>
                <a:cs typeface="DG Jory"/>
                <a:sym typeface="DG Jory"/>
              </a:rPr>
              <a:t>Label:</a:t>
            </a:r>
          </a:p>
          <a:p>
            <a:pPr algn="l">
              <a:lnSpc>
                <a:spcPts val="4900"/>
              </a:lnSpc>
              <a:spcBef>
                <a:spcPct val="0"/>
              </a:spcBef>
            </a:pPr>
            <a:r>
              <a:rPr lang="en-US" sz="3500" spc="73">
                <a:solidFill>
                  <a:srgbClr val="000000"/>
                </a:solidFill>
                <a:latin typeface="DG Jory"/>
                <a:ea typeface="DG Jory"/>
                <a:cs typeface="DG Jory"/>
                <a:sym typeface="DG Jory"/>
              </a:rPr>
              <a:t>Outcome -&gt; 0 = Tidak Diabetes, 1 = Diabetes</a:t>
            </a:r>
          </a:p>
        </p:txBody>
      </p:sp>
      <p:sp>
        <p:nvSpPr>
          <p:cNvPr name="Freeform 12" id="12"/>
          <p:cNvSpPr/>
          <p:nvPr/>
        </p:nvSpPr>
        <p:spPr>
          <a:xfrm flipH="false" flipV="false" rot="5782647">
            <a:off x="13069752" y="4782385"/>
            <a:ext cx="12460238" cy="2367445"/>
          </a:xfrm>
          <a:custGeom>
            <a:avLst/>
            <a:gdLst/>
            <a:ahLst/>
            <a:cxnLst/>
            <a:rect r="r" b="b" t="t" l="l"/>
            <a:pathLst>
              <a:path h="2367445" w="12460238">
                <a:moveTo>
                  <a:pt x="0" y="0"/>
                </a:moveTo>
                <a:lnTo>
                  <a:pt x="12460238" y="0"/>
                </a:lnTo>
                <a:lnTo>
                  <a:pt x="12460238" y="2367446"/>
                </a:lnTo>
                <a:lnTo>
                  <a:pt x="0" y="2367446"/>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AF3"/>
        </a:solidFill>
      </p:bgPr>
    </p:bg>
    <p:spTree>
      <p:nvGrpSpPr>
        <p:cNvPr id="1" name=""/>
        <p:cNvGrpSpPr/>
        <p:nvPr/>
      </p:nvGrpSpPr>
      <p:grpSpPr>
        <a:xfrm>
          <a:off x="0" y="0"/>
          <a:ext cx="0" cy="0"/>
          <a:chOff x="0" y="0"/>
          <a:chExt cx="0" cy="0"/>
        </a:xfrm>
      </p:grpSpPr>
      <p:sp>
        <p:nvSpPr>
          <p:cNvPr name="Freeform 2" id="2"/>
          <p:cNvSpPr/>
          <p:nvPr/>
        </p:nvSpPr>
        <p:spPr>
          <a:xfrm flipH="false" flipV="false" rot="-3999861">
            <a:off x="-2645888" y="-359140"/>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82647">
            <a:off x="-4472313"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4"/>
            <a:stretch>
              <a:fillRect l="0" t="0" r="0" b="0"/>
            </a:stretch>
          </a:blipFill>
        </p:spPr>
      </p:sp>
      <p:sp>
        <p:nvSpPr>
          <p:cNvPr name="Freeform 4" id="4"/>
          <p:cNvSpPr/>
          <p:nvPr/>
        </p:nvSpPr>
        <p:spPr>
          <a:xfrm flipH="false" flipV="false" rot="0">
            <a:off x="18145214" y="-698473"/>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782647">
            <a:off x="12376563"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4"/>
            <a:stretch>
              <a:fillRect l="0" t="0" r="0" b="0"/>
            </a:stretch>
          </a:blipFill>
        </p:spPr>
      </p:sp>
      <p:sp>
        <p:nvSpPr>
          <p:cNvPr name="Freeform 6" id="6"/>
          <p:cNvSpPr/>
          <p:nvPr/>
        </p:nvSpPr>
        <p:spPr>
          <a:xfrm flipH="false" flipV="false" rot="0">
            <a:off x="436736" y="140968"/>
            <a:ext cx="1519517" cy="1422821"/>
          </a:xfrm>
          <a:custGeom>
            <a:avLst/>
            <a:gdLst/>
            <a:ahLst/>
            <a:cxnLst/>
            <a:rect r="r" b="b" t="t" l="l"/>
            <a:pathLst>
              <a:path h="1422821" w="1519517">
                <a:moveTo>
                  <a:pt x="0" y="0"/>
                </a:moveTo>
                <a:lnTo>
                  <a:pt x="1519517" y="0"/>
                </a:lnTo>
                <a:lnTo>
                  <a:pt x="1519517" y="1422821"/>
                </a:lnTo>
                <a:lnTo>
                  <a:pt x="0" y="14228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7259300" y="-356943"/>
            <a:ext cx="1689965" cy="1582422"/>
          </a:xfrm>
          <a:custGeom>
            <a:avLst/>
            <a:gdLst/>
            <a:ahLst/>
            <a:cxnLst/>
            <a:rect r="r" b="b" t="t" l="l"/>
            <a:pathLst>
              <a:path h="1582422" w="1689965">
                <a:moveTo>
                  <a:pt x="0" y="0"/>
                </a:moveTo>
                <a:lnTo>
                  <a:pt x="1689965" y="0"/>
                </a:lnTo>
                <a:lnTo>
                  <a:pt x="1689965" y="1582422"/>
                </a:lnTo>
                <a:lnTo>
                  <a:pt x="0" y="15824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647728" y="7604467"/>
            <a:ext cx="5618698" cy="4709490"/>
          </a:xfrm>
          <a:custGeom>
            <a:avLst/>
            <a:gdLst/>
            <a:ahLst/>
            <a:cxnLst/>
            <a:rect r="r" b="b" t="t" l="l"/>
            <a:pathLst>
              <a:path h="4709490" w="5618698">
                <a:moveTo>
                  <a:pt x="0" y="0"/>
                </a:moveTo>
                <a:lnTo>
                  <a:pt x="5618698" y="0"/>
                </a:lnTo>
                <a:lnTo>
                  <a:pt x="5618698" y="4709491"/>
                </a:lnTo>
                <a:lnTo>
                  <a:pt x="0" y="47094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2091083" y="2173181"/>
            <a:ext cx="7151252" cy="7591329"/>
          </a:xfrm>
          <a:custGeom>
            <a:avLst/>
            <a:gdLst/>
            <a:ahLst/>
            <a:cxnLst/>
            <a:rect r="r" b="b" t="t" l="l"/>
            <a:pathLst>
              <a:path h="7591329" w="7151252">
                <a:moveTo>
                  <a:pt x="0" y="0"/>
                </a:moveTo>
                <a:lnTo>
                  <a:pt x="7151252" y="0"/>
                </a:lnTo>
                <a:lnTo>
                  <a:pt x="7151252" y="7591329"/>
                </a:lnTo>
                <a:lnTo>
                  <a:pt x="0" y="7591329"/>
                </a:lnTo>
                <a:lnTo>
                  <a:pt x="0" y="0"/>
                </a:lnTo>
                <a:close/>
              </a:path>
            </a:pathLst>
          </a:custGeom>
          <a:blipFill>
            <a:blip r:embed="rId9"/>
            <a:stretch>
              <a:fillRect l="0" t="0" r="0" b="0"/>
            </a:stretch>
          </a:blipFill>
        </p:spPr>
      </p:sp>
      <p:sp>
        <p:nvSpPr>
          <p:cNvPr name="Freeform 10" id="10"/>
          <p:cNvSpPr/>
          <p:nvPr/>
        </p:nvSpPr>
        <p:spPr>
          <a:xfrm flipH="false" flipV="false" rot="0">
            <a:off x="9528085" y="3489527"/>
            <a:ext cx="7465980" cy="3307947"/>
          </a:xfrm>
          <a:custGeom>
            <a:avLst/>
            <a:gdLst/>
            <a:ahLst/>
            <a:cxnLst/>
            <a:rect r="r" b="b" t="t" l="l"/>
            <a:pathLst>
              <a:path h="3307947" w="7465980">
                <a:moveTo>
                  <a:pt x="0" y="0"/>
                </a:moveTo>
                <a:lnTo>
                  <a:pt x="7465980" y="0"/>
                </a:lnTo>
                <a:lnTo>
                  <a:pt x="7465980" y="3307946"/>
                </a:lnTo>
                <a:lnTo>
                  <a:pt x="0" y="3307946"/>
                </a:lnTo>
                <a:lnTo>
                  <a:pt x="0" y="0"/>
                </a:lnTo>
                <a:close/>
              </a:path>
            </a:pathLst>
          </a:custGeom>
          <a:blipFill>
            <a:blip r:embed="rId10"/>
            <a:stretch>
              <a:fillRect l="0" t="0" r="0" b="0"/>
            </a:stretch>
          </a:blipFill>
        </p:spPr>
      </p:sp>
      <p:grpSp>
        <p:nvGrpSpPr>
          <p:cNvPr name="Group 11" id="11"/>
          <p:cNvGrpSpPr/>
          <p:nvPr/>
        </p:nvGrpSpPr>
        <p:grpSpPr>
          <a:xfrm rot="0">
            <a:off x="4888188" y="178548"/>
            <a:ext cx="10055563" cy="1700304"/>
            <a:chOff x="0" y="0"/>
            <a:chExt cx="13407418" cy="2267072"/>
          </a:xfrm>
        </p:grpSpPr>
        <p:sp>
          <p:nvSpPr>
            <p:cNvPr name="Freeform 12" id="12"/>
            <p:cNvSpPr/>
            <p:nvPr/>
          </p:nvSpPr>
          <p:spPr>
            <a:xfrm flipH="false" flipV="false" rot="0">
              <a:off x="0" y="0"/>
              <a:ext cx="13407418" cy="2267072"/>
            </a:xfrm>
            <a:custGeom>
              <a:avLst/>
              <a:gdLst/>
              <a:ahLst/>
              <a:cxnLst/>
              <a:rect r="r" b="b" t="t" l="l"/>
              <a:pathLst>
                <a:path h="2267072" w="13407418">
                  <a:moveTo>
                    <a:pt x="0" y="0"/>
                  </a:moveTo>
                  <a:lnTo>
                    <a:pt x="13407418" y="0"/>
                  </a:lnTo>
                  <a:lnTo>
                    <a:pt x="13407418" y="2267072"/>
                  </a:lnTo>
                  <a:lnTo>
                    <a:pt x="0" y="22670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460144" y="474323"/>
              <a:ext cx="12487130" cy="1508927"/>
            </a:xfrm>
            <a:prstGeom prst="rect">
              <a:avLst/>
            </a:prstGeom>
          </p:spPr>
          <p:txBody>
            <a:bodyPr anchor="t" rtlCol="false" tIns="0" lIns="0" bIns="0" rIns="0">
              <a:spAutoFit/>
            </a:bodyPr>
            <a:lstStyle/>
            <a:p>
              <a:pPr algn="ctr">
                <a:lnSpc>
                  <a:spcPts val="7947"/>
                </a:lnSpc>
              </a:pPr>
              <a:r>
                <a:rPr lang="en-US" b="true" sz="8365" spc="175">
                  <a:solidFill>
                    <a:srgbClr val="FFFAF3"/>
                  </a:solidFill>
                  <a:latin typeface="Londrina Solid Heavy"/>
                  <a:ea typeface="Londrina Solid Heavy"/>
                  <a:cs typeface="Londrina Solid Heavy"/>
                  <a:sym typeface="Londrina Solid Heavy"/>
                </a:rPr>
                <a:t>Kode Program</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AF3"/>
        </a:solidFill>
      </p:bgPr>
    </p:bg>
    <p:spTree>
      <p:nvGrpSpPr>
        <p:cNvPr id="1" name=""/>
        <p:cNvGrpSpPr/>
        <p:nvPr/>
      </p:nvGrpSpPr>
      <p:grpSpPr>
        <a:xfrm>
          <a:off x="0" y="0"/>
          <a:ext cx="0" cy="0"/>
          <a:chOff x="0" y="0"/>
          <a:chExt cx="0" cy="0"/>
        </a:xfrm>
      </p:grpSpPr>
      <p:sp>
        <p:nvSpPr>
          <p:cNvPr name="Freeform 2" id="2"/>
          <p:cNvSpPr/>
          <p:nvPr/>
        </p:nvSpPr>
        <p:spPr>
          <a:xfrm flipH="false" flipV="false" rot="0">
            <a:off x="-1755729" y="5948746"/>
            <a:ext cx="3845858" cy="3845858"/>
          </a:xfrm>
          <a:custGeom>
            <a:avLst/>
            <a:gdLst/>
            <a:ahLst/>
            <a:cxnLst/>
            <a:rect r="r" b="b" t="t" l="l"/>
            <a:pathLst>
              <a:path h="3845858" w="3845858">
                <a:moveTo>
                  <a:pt x="0" y="0"/>
                </a:moveTo>
                <a:lnTo>
                  <a:pt x="3845858" y="0"/>
                </a:lnTo>
                <a:lnTo>
                  <a:pt x="3845858" y="3845858"/>
                </a:lnTo>
                <a:lnTo>
                  <a:pt x="0" y="3845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57077" y="830297"/>
            <a:ext cx="3845858" cy="3845858"/>
          </a:xfrm>
          <a:custGeom>
            <a:avLst/>
            <a:gdLst/>
            <a:ahLst/>
            <a:cxnLst/>
            <a:rect r="r" b="b" t="t" l="l"/>
            <a:pathLst>
              <a:path h="3845858" w="3845858">
                <a:moveTo>
                  <a:pt x="0" y="0"/>
                </a:moveTo>
                <a:lnTo>
                  <a:pt x="3845858" y="0"/>
                </a:lnTo>
                <a:lnTo>
                  <a:pt x="3845858" y="3845859"/>
                </a:lnTo>
                <a:lnTo>
                  <a:pt x="0" y="384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782647">
            <a:off x="-4472313"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4"/>
            <a:stretch>
              <a:fillRect l="0" t="0" r="0" b="0"/>
            </a:stretch>
          </a:blipFill>
        </p:spPr>
      </p:sp>
      <p:sp>
        <p:nvSpPr>
          <p:cNvPr name="Freeform 5" id="5"/>
          <p:cNvSpPr/>
          <p:nvPr/>
        </p:nvSpPr>
        <p:spPr>
          <a:xfrm flipH="false" flipV="false" rot="5782647">
            <a:off x="12376563"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4"/>
            <a:stretch>
              <a:fillRect l="0" t="0" r="0" b="0"/>
            </a:stretch>
          </a:blipFill>
        </p:spPr>
      </p:sp>
      <p:sp>
        <p:nvSpPr>
          <p:cNvPr name="Freeform 6" id="6"/>
          <p:cNvSpPr/>
          <p:nvPr/>
        </p:nvSpPr>
        <p:spPr>
          <a:xfrm flipH="false" flipV="false" rot="0">
            <a:off x="503411" y="3524362"/>
            <a:ext cx="1519517" cy="1422821"/>
          </a:xfrm>
          <a:custGeom>
            <a:avLst/>
            <a:gdLst/>
            <a:ahLst/>
            <a:cxnLst/>
            <a:rect r="r" b="b" t="t" l="l"/>
            <a:pathLst>
              <a:path h="1422821" w="1519517">
                <a:moveTo>
                  <a:pt x="0" y="0"/>
                </a:moveTo>
                <a:lnTo>
                  <a:pt x="1519517" y="0"/>
                </a:lnTo>
                <a:lnTo>
                  <a:pt x="1519517" y="1422821"/>
                </a:lnTo>
                <a:lnTo>
                  <a:pt x="0" y="14228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457077" y="830297"/>
            <a:ext cx="1689965" cy="1582422"/>
          </a:xfrm>
          <a:custGeom>
            <a:avLst/>
            <a:gdLst/>
            <a:ahLst/>
            <a:cxnLst/>
            <a:rect r="r" b="b" t="t" l="l"/>
            <a:pathLst>
              <a:path h="1582422" w="1689965">
                <a:moveTo>
                  <a:pt x="0" y="0"/>
                </a:moveTo>
                <a:lnTo>
                  <a:pt x="1689966" y="0"/>
                </a:lnTo>
                <a:lnTo>
                  <a:pt x="1689966" y="1582422"/>
                </a:lnTo>
                <a:lnTo>
                  <a:pt x="0" y="15824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647728" y="6903555"/>
            <a:ext cx="5618698" cy="4709490"/>
          </a:xfrm>
          <a:custGeom>
            <a:avLst/>
            <a:gdLst/>
            <a:ahLst/>
            <a:cxnLst/>
            <a:rect r="r" b="b" t="t" l="l"/>
            <a:pathLst>
              <a:path h="4709490" w="5618698">
                <a:moveTo>
                  <a:pt x="0" y="0"/>
                </a:moveTo>
                <a:lnTo>
                  <a:pt x="5618698" y="0"/>
                </a:lnTo>
                <a:lnTo>
                  <a:pt x="5618698" y="4709490"/>
                </a:lnTo>
                <a:lnTo>
                  <a:pt x="0" y="47094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172905" y="2444246"/>
            <a:ext cx="9274900" cy="7350358"/>
          </a:xfrm>
          <a:custGeom>
            <a:avLst/>
            <a:gdLst/>
            <a:ahLst/>
            <a:cxnLst/>
            <a:rect r="r" b="b" t="t" l="l"/>
            <a:pathLst>
              <a:path h="7350358" w="9274900">
                <a:moveTo>
                  <a:pt x="0" y="0"/>
                </a:moveTo>
                <a:lnTo>
                  <a:pt x="9274900" y="0"/>
                </a:lnTo>
                <a:lnTo>
                  <a:pt x="9274900" y="7350358"/>
                </a:lnTo>
                <a:lnTo>
                  <a:pt x="0" y="7350358"/>
                </a:lnTo>
                <a:lnTo>
                  <a:pt x="0" y="0"/>
                </a:lnTo>
                <a:close/>
              </a:path>
            </a:pathLst>
          </a:custGeom>
          <a:blipFill>
            <a:blip r:embed="rId9"/>
            <a:stretch>
              <a:fillRect l="0" t="0" r="0" b="0"/>
            </a:stretch>
          </a:blipFill>
        </p:spPr>
      </p:sp>
      <p:grpSp>
        <p:nvGrpSpPr>
          <p:cNvPr name="Group 10" id="10"/>
          <p:cNvGrpSpPr/>
          <p:nvPr/>
        </p:nvGrpSpPr>
        <p:grpSpPr>
          <a:xfrm rot="0">
            <a:off x="3607724" y="311235"/>
            <a:ext cx="10405264" cy="1759435"/>
            <a:chOff x="0" y="0"/>
            <a:chExt cx="13873685" cy="2345914"/>
          </a:xfrm>
        </p:grpSpPr>
        <p:sp>
          <p:nvSpPr>
            <p:cNvPr name="Freeform 11" id="11"/>
            <p:cNvSpPr/>
            <p:nvPr/>
          </p:nvSpPr>
          <p:spPr>
            <a:xfrm flipH="false" flipV="false" rot="0">
              <a:off x="0" y="0"/>
              <a:ext cx="13873685" cy="2345914"/>
            </a:xfrm>
            <a:custGeom>
              <a:avLst/>
              <a:gdLst/>
              <a:ahLst/>
              <a:cxnLst/>
              <a:rect r="r" b="b" t="t" l="l"/>
              <a:pathLst>
                <a:path h="2345914" w="13873685">
                  <a:moveTo>
                    <a:pt x="0" y="0"/>
                  </a:moveTo>
                  <a:lnTo>
                    <a:pt x="13873685" y="0"/>
                  </a:lnTo>
                  <a:lnTo>
                    <a:pt x="13873685" y="2345914"/>
                  </a:lnTo>
                  <a:lnTo>
                    <a:pt x="0" y="23459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476146" y="484193"/>
              <a:ext cx="12921392" cy="1568028"/>
            </a:xfrm>
            <a:prstGeom prst="rect">
              <a:avLst/>
            </a:prstGeom>
          </p:spPr>
          <p:txBody>
            <a:bodyPr anchor="t" rtlCol="false" tIns="0" lIns="0" bIns="0" rIns="0">
              <a:spAutoFit/>
            </a:bodyPr>
            <a:lstStyle/>
            <a:p>
              <a:pPr algn="ctr">
                <a:lnSpc>
                  <a:spcPts val="8223"/>
                </a:lnSpc>
              </a:pPr>
              <a:r>
                <a:rPr lang="en-US" b="true" sz="8656" spc="181">
                  <a:solidFill>
                    <a:srgbClr val="FFFAF3"/>
                  </a:solidFill>
                  <a:latin typeface="Londrina Solid Heavy"/>
                  <a:ea typeface="Londrina Solid Heavy"/>
                  <a:cs typeface="Londrina Solid Heavy"/>
                  <a:sym typeface="Londrina Solid Heavy"/>
                </a:rPr>
                <a:t>Visualisasi hasil</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DBB5"/>
        </a:solidFill>
      </p:bgPr>
    </p:bg>
    <p:spTree>
      <p:nvGrpSpPr>
        <p:cNvPr id="1" name=""/>
        <p:cNvGrpSpPr/>
        <p:nvPr/>
      </p:nvGrpSpPr>
      <p:grpSpPr>
        <a:xfrm>
          <a:off x="0" y="0"/>
          <a:ext cx="0" cy="0"/>
          <a:chOff x="0" y="0"/>
          <a:chExt cx="0" cy="0"/>
        </a:xfrm>
      </p:grpSpPr>
      <p:sp>
        <p:nvSpPr>
          <p:cNvPr name="Freeform 2" id="2"/>
          <p:cNvSpPr/>
          <p:nvPr/>
        </p:nvSpPr>
        <p:spPr>
          <a:xfrm flipH="false" flipV="false" rot="5782647">
            <a:off x="-4472313"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2"/>
            <a:stretch>
              <a:fillRect l="0" t="0" r="0" b="0"/>
            </a:stretch>
          </a:blipFill>
        </p:spPr>
      </p:sp>
      <p:sp>
        <p:nvSpPr>
          <p:cNvPr name="Freeform 3" id="3"/>
          <p:cNvSpPr/>
          <p:nvPr/>
        </p:nvSpPr>
        <p:spPr>
          <a:xfrm flipH="false" flipV="false" rot="5782647">
            <a:off x="12376563"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2"/>
            <a:stretch>
              <a:fillRect l="0" t="0" r="0" b="0"/>
            </a:stretch>
          </a:blipFill>
        </p:spPr>
      </p:sp>
      <p:sp>
        <p:nvSpPr>
          <p:cNvPr name="Freeform 4" id="4"/>
          <p:cNvSpPr/>
          <p:nvPr/>
        </p:nvSpPr>
        <p:spPr>
          <a:xfrm flipH="false" flipV="false" rot="0">
            <a:off x="-290366" y="4782764"/>
            <a:ext cx="2041151" cy="1911260"/>
          </a:xfrm>
          <a:custGeom>
            <a:avLst/>
            <a:gdLst/>
            <a:ahLst/>
            <a:cxnLst/>
            <a:rect r="r" b="b" t="t" l="l"/>
            <a:pathLst>
              <a:path h="1911260" w="2041151">
                <a:moveTo>
                  <a:pt x="0" y="0"/>
                </a:moveTo>
                <a:lnTo>
                  <a:pt x="2041151" y="0"/>
                </a:lnTo>
                <a:lnTo>
                  <a:pt x="2041151" y="1911260"/>
                </a:lnTo>
                <a:lnTo>
                  <a:pt x="0" y="19112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16717" y="4155972"/>
            <a:ext cx="1689965" cy="1582422"/>
          </a:xfrm>
          <a:custGeom>
            <a:avLst/>
            <a:gdLst/>
            <a:ahLst/>
            <a:cxnLst/>
            <a:rect r="r" b="b" t="t" l="l"/>
            <a:pathLst>
              <a:path h="1582422" w="1689965">
                <a:moveTo>
                  <a:pt x="0" y="0"/>
                </a:moveTo>
                <a:lnTo>
                  <a:pt x="1689965" y="0"/>
                </a:lnTo>
                <a:lnTo>
                  <a:pt x="1689965" y="1582422"/>
                </a:lnTo>
                <a:lnTo>
                  <a:pt x="0" y="15824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3810944" y="565315"/>
            <a:ext cx="10666112" cy="1803543"/>
            <a:chOff x="0" y="0"/>
            <a:chExt cx="14221482" cy="2404723"/>
          </a:xfrm>
        </p:grpSpPr>
        <p:sp>
          <p:nvSpPr>
            <p:cNvPr name="Freeform 7" id="7"/>
            <p:cNvSpPr/>
            <p:nvPr/>
          </p:nvSpPr>
          <p:spPr>
            <a:xfrm flipH="false" flipV="false" rot="0">
              <a:off x="0" y="0"/>
              <a:ext cx="14221482" cy="2404723"/>
            </a:xfrm>
            <a:custGeom>
              <a:avLst/>
              <a:gdLst/>
              <a:ahLst/>
              <a:cxnLst/>
              <a:rect r="r" b="b" t="t" l="l"/>
              <a:pathLst>
                <a:path h="2404723" w="14221482">
                  <a:moveTo>
                    <a:pt x="0" y="0"/>
                  </a:moveTo>
                  <a:lnTo>
                    <a:pt x="14221482" y="0"/>
                  </a:lnTo>
                  <a:lnTo>
                    <a:pt x="14221482" y="2404723"/>
                  </a:lnTo>
                  <a:lnTo>
                    <a:pt x="0" y="24047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488083" y="501081"/>
              <a:ext cx="13245317" cy="1602587"/>
            </a:xfrm>
            <a:prstGeom prst="rect">
              <a:avLst/>
            </a:prstGeom>
          </p:spPr>
          <p:txBody>
            <a:bodyPr anchor="t" rtlCol="false" tIns="0" lIns="0" bIns="0" rIns="0">
              <a:spAutoFit/>
            </a:bodyPr>
            <a:lstStyle/>
            <a:p>
              <a:pPr algn="ctr">
                <a:lnSpc>
                  <a:spcPts val="8430"/>
                </a:lnSpc>
              </a:pPr>
              <a:r>
                <a:rPr lang="en-US" b="true" sz="8873" spc="186">
                  <a:solidFill>
                    <a:srgbClr val="FFFAF3"/>
                  </a:solidFill>
                  <a:latin typeface="Londrina Solid Heavy"/>
                  <a:ea typeface="Londrina Solid Heavy"/>
                  <a:cs typeface="Londrina Solid Heavy"/>
                  <a:sym typeface="Londrina Solid Heavy"/>
                </a:rPr>
                <a:t>Kesimpulan</a:t>
              </a:r>
            </a:p>
          </p:txBody>
        </p:sp>
      </p:grpSp>
      <p:sp>
        <p:nvSpPr>
          <p:cNvPr name="TextBox 9" id="9"/>
          <p:cNvSpPr txBox="true"/>
          <p:nvPr/>
        </p:nvSpPr>
        <p:spPr>
          <a:xfrm rot="0">
            <a:off x="2223870" y="3055127"/>
            <a:ext cx="14219763" cy="6014924"/>
          </a:xfrm>
          <a:prstGeom prst="rect">
            <a:avLst/>
          </a:prstGeom>
        </p:spPr>
        <p:txBody>
          <a:bodyPr anchor="t" rtlCol="false" tIns="0" lIns="0" bIns="0" rIns="0">
            <a:spAutoFit/>
          </a:bodyPr>
          <a:lstStyle/>
          <a:p>
            <a:pPr algn="l" marL="904542" indent="-452271" lvl="1">
              <a:lnSpc>
                <a:spcPts val="5278"/>
              </a:lnSpc>
              <a:buFont typeface="Arial"/>
              <a:buChar char="•"/>
            </a:pPr>
            <a:r>
              <a:rPr lang="en-US" sz="4189">
                <a:solidFill>
                  <a:srgbClr val="643F07"/>
                </a:solidFill>
                <a:latin typeface="DG Jory"/>
                <a:ea typeface="DG Jory"/>
                <a:cs typeface="DG Jory"/>
                <a:sym typeface="DG Jory"/>
              </a:rPr>
              <a:t>SVM</a:t>
            </a:r>
            <a:r>
              <a:rPr lang="en-US" sz="4189">
                <a:solidFill>
                  <a:srgbClr val="643F07"/>
                </a:solidFill>
                <a:latin typeface="DG Jory"/>
                <a:ea typeface="DG Jory"/>
                <a:cs typeface="DG Jory"/>
                <a:sym typeface="DG Jory"/>
              </a:rPr>
              <a:t> terbukti mampu membentuk hyperplane linear yang memisahkan data diabetes berdasarkan fitur Glucose dan BMI. Visualisasi menunjukkan:</a:t>
            </a:r>
          </a:p>
          <a:p>
            <a:pPr algn="l" marL="904542" indent="-452271" lvl="1">
              <a:lnSpc>
                <a:spcPts val="5278"/>
              </a:lnSpc>
              <a:buFont typeface="Arial"/>
              <a:buChar char="•"/>
            </a:pPr>
            <a:r>
              <a:rPr lang="en-US" sz="4189">
                <a:solidFill>
                  <a:srgbClr val="643F07"/>
                </a:solidFill>
                <a:latin typeface="DG Jory"/>
                <a:ea typeface="DG Jory"/>
                <a:cs typeface="DG Jory"/>
                <a:sym typeface="DG Jory"/>
              </a:rPr>
              <a:t>keberadaan margin yang jelas,</a:t>
            </a:r>
          </a:p>
          <a:p>
            <a:pPr algn="l" marL="904542" indent="-452271" lvl="1">
              <a:lnSpc>
                <a:spcPts val="5278"/>
              </a:lnSpc>
              <a:buFont typeface="Arial"/>
              <a:buChar char="•"/>
            </a:pPr>
            <a:r>
              <a:rPr lang="en-US" sz="4189">
                <a:solidFill>
                  <a:srgbClr val="643F07"/>
                </a:solidFill>
                <a:latin typeface="DG Jory"/>
                <a:ea typeface="DG Jory"/>
                <a:cs typeface="DG Jory"/>
                <a:sym typeface="DG Jory"/>
              </a:rPr>
              <a:t>support vector yang valid,</a:t>
            </a:r>
          </a:p>
          <a:p>
            <a:pPr algn="l" marL="904542" indent="-452271" lvl="1">
              <a:lnSpc>
                <a:spcPts val="5278"/>
              </a:lnSpc>
              <a:buFont typeface="Arial"/>
              <a:buChar char="•"/>
            </a:pPr>
            <a:r>
              <a:rPr lang="en-US" sz="4189">
                <a:solidFill>
                  <a:srgbClr val="643F07"/>
                </a:solidFill>
                <a:latin typeface="DG Jory"/>
                <a:ea typeface="DG Jory"/>
                <a:cs typeface="DG Jory"/>
                <a:sym typeface="DG Jory"/>
              </a:rPr>
              <a:t>orientasi hyperplane yang sesuai dengan distribusi data.</a:t>
            </a:r>
          </a:p>
          <a:p>
            <a:pPr algn="l" marL="904542" indent="-452271" lvl="1">
              <a:lnSpc>
                <a:spcPts val="5278"/>
              </a:lnSpc>
              <a:buFont typeface="Arial"/>
              <a:buChar char="•"/>
            </a:pPr>
            <a:r>
              <a:rPr lang="en-US" sz="4189">
                <a:solidFill>
                  <a:srgbClr val="643F07"/>
                </a:solidFill>
                <a:latin typeface="DG Jory"/>
                <a:ea typeface="DG Jory"/>
                <a:cs typeface="DG Jory"/>
                <a:sym typeface="DG Jory"/>
              </a:rPr>
              <a:t>Model SVM linear dapat digunakan sebagai pendekatan dasar dalam klasifikasi data diabetes untuk memahami bagaimana hubungan dua variabel fisik terhadap outcome pasien.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DBB5"/>
        </a:solidFill>
      </p:bgPr>
    </p:bg>
    <p:spTree>
      <p:nvGrpSpPr>
        <p:cNvPr id="1" name=""/>
        <p:cNvGrpSpPr/>
        <p:nvPr/>
      </p:nvGrpSpPr>
      <p:grpSpPr>
        <a:xfrm>
          <a:off x="0" y="0"/>
          <a:ext cx="0" cy="0"/>
          <a:chOff x="0" y="0"/>
          <a:chExt cx="0" cy="0"/>
        </a:xfrm>
      </p:grpSpPr>
      <p:sp>
        <p:nvSpPr>
          <p:cNvPr name="Freeform 2" id="2"/>
          <p:cNvSpPr/>
          <p:nvPr/>
        </p:nvSpPr>
        <p:spPr>
          <a:xfrm flipH="false" flipV="false" rot="5782647">
            <a:off x="-4472313" y="4113776"/>
            <a:ext cx="10839203" cy="2059449"/>
          </a:xfrm>
          <a:custGeom>
            <a:avLst/>
            <a:gdLst/>
            <a:ahLst/>
            <a:cxnLst/>
            <a:rect r="r" b="b" t="t" l="l"/>
            <a:pathLst>
              <a:path h="2059449" w="10839203">
                <a:moveTo>
                  <a:pt x="0" y="0"/>
                </a:moveTo>
                <a:lnTo>
                  <a:pt x="10839203" y="0"/>
                </a:lnTo>
                <a:lnTo>
                  <a:pt x="10839203" y="2059448"/>
                </a:lnTo>
                <a:lnTo>
                  <a:pt x="0" y="2059448"/>
                </a:lnTo>
                <a:lnTo>
                  <a:pt x="0" y="0"/>
                </a:lnTo>
                <a:close/>
              </a:path>
            </a:pathLst>
          </a:custGeom>
          <a:blipFill>
            <a:blip r:embed="rId2"/>
            <a:stretch>
              <a:fillRect l="0" t="0" r="0" b="0"/>
            </a:stretch>
          </a:blipFill>
        </p:spPr>
      </p:sp>
      <p:sp>
        <p:nvSpPr>
          <p:cNvPr name="Freeform 3" id="3"/>
          <p:cNvSpPr/>
          <p:nvPr/>
        </p:nvSpPr>
        <p:spPr>
          <a:xfrm flipH="false" flipV="false" rot="5782647">
            <a:off x="12376563" y="4221934"/>
            <a:ext cx="12460238" cy="2367445"/>
          </a:xfrm>
          <a:custGeom>
            <a:avLst/>
            <a:gdLst/>
            <a:ahLst/>
            <a:cxnLst/>
            <a:rect r="r" b="b" t="t" l="l"/>
            <a:pathLst>
              <a:path h="2367445" w="12460238">
                <a:moveTo>
                  <a:pt x="0" y="0"/>
                </a:moveTo>
                <a:lnTo>
                  <a:pt x="12460238" y="0"/>
                </a:lnTo>
                <a:lnTo>
                  <a:pt x="12460238" y="2367445"/>
                </a:lnTo>
                <a:lnTo>
                  <a:pt x="0" y="2367445"/>
                </a:lnTo>
                <a:lnTo>
                  <a:pt x="0" y="0"/>
                </a:lnTo>
                <a:close/>
              </a:path>
            </a:pathLst>
          </a:custGeom>
          <a:blipFill>
            <a:blip r:embed="rId2"/>
            <a:stretch>
              <a:fillRect l="0" t="0" r="0" b="0"/>
            </a:stretch>
          </a:blipFill>
        </p:spPr>
      </p:sp>
      <p:sp>
        <p:nvSpPr>
          <p:cNvPr name="Freeform 4" id="4"/>
          <p:cNvSpPr/>
          <p:nvPr/>
        </p:nvSpPr>
        <p:spPr>
          <a:xfrm flipH="true" flipV="false" rot="-5400000">
            <a:off x="4659956" y="-1463305"/>
            <a:ext cx="8761803" cy="13349007"/>
          </a:xfrm>
          <a:custGeom>
            <a:avLst/>
            <a:gdLst/>
            <a:ahLst/>
            <a:cxnLst/>
            <a:rect r="r" b="b" t="t" l="l"/>
            <a:pathLst>
              <a:path h="13349007" w="8761803">
                <a:moveTo>
                  <a:pt x="8761803" y="0"/>
                </a:moveTo>
                <a:lnTo>
                  <a:pt x="0" y="0"/>
                </a:lnTo>
                <a:lnTo>
                  <a:pt x="0" y="13349007"/>
                </a:lnTo>
                <a:lnTo>
                  <a:pt x="8761803" y="13349007"/>
                </a:lnTo>
                <a:lnTo>
                  <a:pt x="876180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572639" y="7883345"/>
            <a:ext cx="2041151" cy="1911260"/>
          </a:xfrm>
          <a:custGeom>
            <a:avLst/>
            <a:gdLst/>
            <a:ahLst/>
            <a:cxnLst/>
            <a:rect r="r" b="b" t="t" l="l"/>
            <a:pathLst>
              <a:path h="1911260" w="2041151">
                <a:moveTo>
                  <a:pt x="0" y="0"/>
                </a:moveTo>
                <a:lnTo>
                  <a:pt x="2041151" y="0"/>
                </a:lnTo>
                <a:lnTo>
                  <a:pt x="2041151" y="1911259"/>
                </a:lnTo>
                <a:lnTo>
                  <a:pt x="0" y="19112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829304" y="570527"/>
            <a:ext cx="1689965" cy="1582422"/>
          </a:xfrm>
          <a:custGeom>
            <a:avLst/>
            <a:gdLst/>
            <a:ahLst/>
            <a:cxnLst/>
            <a:rect r="r" b="b" t="t" l="l"/>
            <a:pathLst>
              <a:path h="1582422" w="1689965">
                <a:moveTo>
                  <a:pt x="0" y="0"/>
                </a:moveTo>
                <a:lnTo>
                  <a:pt x="1689965" y="0"/>
                </a:lnTo>
                <a:lnTo>
                  <a:pt x="1689965" y="1582422"/>
                </a:lnTo>
                <a:lnTo>
                  <a:pt x="0" y="15824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0">
            <a:off x="13718254" y="7062056"/>
            <a:ext cx="1997108" cy="2567262"/>
          </a:xfrm>
          <a:custGeom>
            <a:avLst/>
            <a:gdLst/>
            <a:ahLst/>
            <a:cxnLst/>
            <a:rect r="r" b="b" t="t" l="l"/>
            <a:pathLst>
              <a:path h="2567262" w="1997108">
                <a:moveTo>
                  <a:pt x="1997107" y="0"/>
                </a:moveTo>
                <a:lnTo>
                  <a:pt x="0" y="0"/>
                </a:lnTo>
                <a:lnTo>
                  <a:pt x="0" y="2567261"/>
                </a:lnTo>
                <a:lnTo>
                  <a:pt x="1997107" y="2567261"/>
                </a:lnTo>
                <a:lnTo>
                  <a:pt x="1997107"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740030" y="2782038"/>
            <a:ext cx="12601656" cy="5228401"/>
          </a:xfrm>
          <a:prstGeom prst="rect">
            <a:avLst/>
          </a:prstGeom>
        </p:spPr>
        <p:txBody>
          <a:bodyPr anchor="t" rtlCol="false" tIns="0" lIns="0" bIns="0" rIns="0">
            <a:spAutoFit/>
          </a:bodyPr>
          <a:lstStyle/>
          <a:p>
            <a:pPr algn="ctr">
              <a:lnSpc>
                <a:spcPts val="19925"/>
              </a:lnSpc>
            </a:pPr>
            <a:r>
              <a:rPr lang="en-US" b="true" sz="20974" spc="440">
                <a:solidFill>
                  <a:srgbClr val="643F07"/>
                </a:solidFill>
                <a:latin typeface="Londrina Solid Heavy"/>
                <a:ea typeface="Londrina Solid Heavy"/>
                <a:cs typeface="Londrina Solid Heavy"/>
                <a:sym typeface="Londrina Solid Heavy"/>
              </a:rPr>
              <a:t>TERIMA</a:t>
            </a:r>
          </a:p>
          <a:p>
            <a:pPr algn="ctr">
              <a:lnSpc>
                <a:spcPts val="19925"/>
              </a:lnSpc>
            </a:pPr>
            <a:r>
              <a:rPr lang="en-US" b="true" sz="20974" spc="440">
                <a:solidFill>
                  <a:srgbClr val="643F07"/>
                </a:solidFill>
                <a:latin typeface="Londrina Solid Heavy"/>
                <a:ea typeface="Londrina Solid Heavy"/>
                <a:cs typeface="Londrina Solid Heavy"/>
                <a:sym typeface="Londrina Solid Heavy"/>
              </a:rPr>
              <a:t>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DAG4xQXC4Hc</dc:identifier>
  <dcterms:modified xsi:type="dcterms:W3CDTF">2011-08-01T06:04:30Z</dcterms:modified>
  <cp:revision>1</cp:revision>
  <dc:title>Cokelat Minimalis Tugas Kelompok Presentasi</dc:title>
</cp:coreProperties>
</file>